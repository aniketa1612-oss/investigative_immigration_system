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57" r:id="rId3"/>
    <p:sldId id="264" r:id="rId4"/>
    <p:sldId id="258" r:id="rId5"/>
    <p:sldId id="263" r:id="rId6"/>
    <p:sldId id="259" r:id="rId7"/>
    <p:sldId id="267" r:id="rId8"/>
    <p:sldId id="260" r:id="rId9"/>
    <p:sldId id="265" r:id="rId10"/>
    <p:sldId id="261" r:id="rId11"/>
    <p:sldId id="266" r:id="rId12"/>
    <p:sldId id="262"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26-07-2026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Addition to immigration</a:t>
            </a:r>
          </a:p>
        </p:txBody>
      </p:sp>
      <p:sp>
        <p:nvSpPr>
          <p:cNvPr id="4" name="Slide Number Placeholder 3"/>
          <p:cNvSpPr>
            <a:spLocks noGrp="1"/>
          </p:cNvSpPr>
          <p:nvPr>
            <p:ph type="sldNum" sz="quarter" idx="5"/>
          </p:nvPr>
        </p:nvSpPr>
        <p:spPr/>
        <p:txBody>
          <a:bodyPr/>
          <a:lstStyle/>
          <a:p>
            <a:fld id="{A959FDF3-42B5-4A41-B75E-186C389084C2}" type="slidenum">
              <a:rPr lang="en-IN" smtClean="0"/>
              <a:t>3</a:t>
            </a:fld>
            <a:endParaRPr lang="en-IN"/>
          </a:p>
        </p:txBody>
      </p:sp>
    </p:spTree>
    <p:extLst>
      <p:ext uri="{BB962C8B-B14F-4D97-AF65-F5344CB8AC3E}">
        <p14:creationId xmlns:p14="http://schemas.microsoft.com/office/powerpoint/2010/main" val="21936426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26-07-2026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26-07-2026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26-07-2026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26-07-2026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26-07-2026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26-07-2026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26-07-2026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26-07-2026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26-07-2026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26-07-2026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26-07-2026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26-07-2026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454145"/>
            <a:ext cx="8924544" cy="1754326"/>
          </a:xfrm>
          <a:prstGeom prst="rect">
            <a:avLst/>
          </a:prstGeom>
          <a:noFill/>
        </p:spPr>
        <p:txBody>
          <a:bodyPr wrap="square" rtlCol="0">
            <a:spAutoFit/>
          </a:bodyPr>
          <a:lstStyle/>
          <a:p>
            <a:pPr algn="ctr"/>
            <a:r>
              <a:rPr lang="en-IN" sz="1800" b="1" dirty="0" err="1">
                <a:latin typeface="Times New Roman" panose="02020603050405020304" pitchFamily="18" charset="0"/>
                <a:cs typeface="Times New Roman" panose="02020603050405020304" pitchFamily="18" charset="0"/>
              </a:rPr>
              <a:t>B.Tech</a:t>
            </a:r>
            <a:br>
              <a:rPr lang="en-IN" sz="1800" b="1" dirty="0">
                <a:latin typeface="Times New Roman" panose="02020603050405020304" pitchFamily="18" charset="0"/>
                <a:cs typeface="Times New Roman" panose="02020603050405020304" pitchFamily="18" charset="0"/>
              </a:rPr>
            </a:br>
            <a:r>
              <a:rPr lang="en-IN" sz="1800" b="1" dirty="0">
                <a:latin typeface="Times New Roman" panose="02020603050405020304" pitchFamily="18" charset="0"/>
                <a:cs typeface="Times New Roman" panose="02020603050405020304" pitchFamily="18" charset="0"/>
              </a:rPr>
              <a:t>BCSE497J– Project-1</a:t>
            </a:r>
            <a:br>
              <a:rPr lang="en-IN" sz="1800" b="1" dirty="0">
                <a:latin typeface="Times New Roman" panose="02020603050405020304" pitchFamily="18" charset="0"/>
                <a:cs typeface="Times New Roman" panose="02020603050405020304" pitchFamily="18" charset="0"/>
              </a:rPr>
            </a:br>
            <a:r>
              <a:rPr lang="en-IN" sz="2800" b="1" dirty="0">
                <a:latin typeface="Times New Roman" panose="02020603050405020304" pitchFamily="18" charset="0"/>
                <a:cs typeface="Times New Roman" panose="02020603050405020304" pitchFamily="18" charset="0"/>
              </a:rPr>
              <a:t>Intelligent Investigative Interview Assistant Using Speech Emotion Analysis, Computer Vision and Large Language Models</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208471"/>
            <a:ext cx="7071360" cy="2734082"/>
          </a:xfrm>
          <a:prstGeom prst="rect">
            <a:avLst/>
          </a:prstGeom>
        </p:spPr>
        <p:txBody>
          <a:bodyPr vert="horz" wrap="square" lIns="0" tIns="12700" rIns="0" bIns="0" rtlCol="0">
            <a:spAutoFit/>
          </a:bodyPr>
          <a:lstStyle/>
          <a:p>
            <a:pPr>
              <a:lnSpc>
                <a:spcPct val="100000"/>
              </a:lnSpc>
              <a:spcBef>
                <a:spcPts val="200"/>
              </a:spcBef>
            </a:pPr>
            <a:endParaRPr sz="1800" dirty="0">
              <a:latin typeface="Times New Roman"/>
              <a:cs typeface="Times New Roman"/>
            </a:endParaRPr>
          </a:p>
          <a:p>
            <a:pPr marL="12700" algn="just">
              <a:lnSpc>
                <a:spcPct val="100000"/>
              </a:lnSpc>
            </a:pPr>
            <a:r>
              <a:rPr sz="2000" spc="-20" dirty="0">
                <a:latin typeface="Times New Roman"/>
                <a:cs typeface="Times New Roman"/>
              </a:rPr>
              <a:t>Team</a:t>
            </a:r>
            <a:r>
              <a:rPr sz="2000" spc="-80" dirty="0">
                <a:latin typeface="Times New Roman"/>
                <a:cs typeface="Times New Roman"/>
              </a:rPr>
              <a:t> </a:t>
            </a:r>
            <a:r>
              <a:rPr sz="2000" spc="-10" dirty="0">
                <a:latin typeface="Times New Roman"/>
                <a:cs typeface="Times New Roman"/>
              </a:rPr>
              <a:t>members:</a:t>
            </a:r>
            <a:endParaRPr sz="2000" dirty="0">
              <a:latin typeface="Times New Roman"/>
              <a:cs typeface="Times New Roman"/>
            </a:endParaRPr>
          </a:p>
          <a:p>
            <a:pPr marL="149225" indent="-136525" algn="just">
              <a:lnSpc>
                <a:spcPct val="100000"/>
              </a:lnSpc>
              <a:spcBef>
                <a:spcPts val="20"/>
              </a:spcBef>
              <a:buFont typeface="Times New Roman"/>
              <a:buChar char="•"/>
              <a:tabLst>
                <a:tab pos="149225" algn="l"/>
              </a:tabLst>
            </a:pPr>
            <a:r>
              <a:rPr lang="en-IN" sz="2000" b="1" dirty="0">
                <a:latin typeface="Times New Roman"/>
                <a:cs typeface="Times New Roman"/>
              </a:rPr>
              <a:t>Ajmal </a:t>
            </a:r>
            <a:r>
              <a:rPr lang="en-IN" sz="2000" b="1" dirty="0" err="1">
                <a:latin typeface="Times New Roman"/>
                <a:cs typeface="Times New Roman"/>
              </a:rPr>
              <a:t>Sadhiq</a:t>
            </a:r>
            <a:r>
              <a:rPr lang="en-IN" sz="2000" b="1" dirty="0">
                <a:latin typeface="Times New Roman"/>
                <a:cs typeface="Times New Roman"/>
              </a:rPr>
              <a:t> 		  (23BCE2201)</a:t>
            </a:r>
          </a:p>
          <a:p>
            <a:pPr marL="149225" indent="-136525" algn="just">
              <a:lnSpc>
                <a:spcPct val="100000"/>
              </a:lnSpc>
              <a:spcBef>
                <a:spcPts val="20"/>
              </a:spcBef>
              <a:buFont typeface="Times New Roman"/>
              <a:buChar char="•"/>
              <a:tabLst>
                <a:tab pos="149225" algn="l"/>
              </a:tabLst>
            </a:pPr>
            <a:r>
              <a:rPr lang="en-IN" sz="2000" b="1" dirty="0">
                <a:latin typeface="Times New Roman"/>
                <a:cs typeface="Times New Roman"/>
              </a:rPr>
              <a:t>Garvit Kohli		  (23BCE2216)</a:t>
            </a:r>
          </a:p>
          <a:p>
            <a:pPr marL="149225" indent="-136525" algn="just">
              <a:lnSpc>
                <a:spcPct val="100000"/>
              </a:lnSpc>
              <a:spcBef>
                <a:spcPts val="20"/>
              </a:spcBef>
              <a:buFont typeface="Times New Roman"/>
              <a:buChar char="•"/>
              <a:tabLst>
                <a:tab pos="149225" algn="l"/>
              </a:tabLst>
            </a:pPr>
            <a:r>
              <a:rPr lang="en-IN" sz="2000" b="1" dirty="0">
                <a:latin typeface="Times New Roman"/>
                <a:cs typeface="Times New Roman"/>
              </a:rPr>
              <a:t>Aniket Agrawal 	 (23BCE2221)</a:t>
            </a:r>
          </a:p>
          <a:p>
            <a:pPr marL="149225" indent="-136525" algn="just">
              <a:lnSpc>
                <a:spcPct val="100000"/>
              </a:lnSpc>
              <a:spcBef>
                <a:spcPts val="20"/>
              </a:spcBef>
              <a:buFont typeface="Times New Roman"/>
              <a:buChar char="•"/>
              <a:tabLst>
                <a:tab pos="149225" algn="l"/>
              </a:tabLst>
            </a:pPr>
            <a:endParaRPr lang="en-IN" sz="2000" b="1" dirty="0">
              <a:latin typeface="Times New Roman"/>
              <a:cs typeface="Times New Roman"/>
            </a:endParaRPr>
          </a:p>
          <a:p>
            <a:pPr marL="12700" algn="just">
              <a:lnSpc>
                <a:spcPct val="100000"/>
              </a:lnSpc>
              <a:spcBef>
                <a:spcPts val="100"/>
              </a:spcBef>
            </a:pPr>
            <a:r>
              <a:rPr lang="en-US" sz="2000" dirty="0">
                <a:latin typeface="Times New Roman"/>
                <a:cs typeface="Times New Roman"/>
              </a:rPr>
              <a:t>Faculty</a:t>
            </a:r>
            <a:r>
              <a:rPr lang="en-US" sz="2000" spc="-60" dirty="0">
                <a:latin typeface="Times New Roman"/>
                <a:cs typeface="Times New Roman"/>
              </a:rPr>
              <a:t> </a:t>
            </a:r>
            <a:r>
              <a:rPr lang="en-US" sz="2000" dirty="0">
                <a:latin typeface="Times New Roman"/>
                <a:cs typeface="Times New Roman"/>
              </a:rPr>
              <a:t>guide</a:t>
            </a:r>
            <a:r>
              <a:rPr lang="en-US" sz="2000" spc="-55" dirty="0">
                <a:latin typeface="Times New Roman"/>
                <a:cs typeface="Times New Roman"/>
              </a:rPr>
              <a:t> </a:t>
            </a:r>
            <a:r>
              <a:rPr lang="en-US" sz="2000" spc="-50" dirty="0">
                <a:latin typeface="Times New Roman"/>
                <a:cs typeface="Times New Roman"/>
              </a:rPr>
              <a:t>:</a:t>
            </a:r>
            <a:endParaRPr lang="en-US" sz="2000" dirty="0">
              <a:latin typeface="Times New Roman"/>
              <a:cs typeface="Times New Roman"/>
            </a:endParaRPr>
          </a:p>
          <a:p>
            <a:pPr marL="12700" algn="just">
              <a:lnSpc>
                <a:spcPct val="100000"/>
              </a:lnSpc>
              <a:spcBef>
                <a:spcPts val="20"/>
              </a:spcBef>
            </a:pPr>
            <a:r>
              <a:rPr lang="en-US" sz="2000" b="1" dirty="0" err="1">
                <a:latin typeface="Times New Roman"/>
                <a:cs typeface="Times New Roman"/>
              </a:rPr>
              <a:t>Dr.Sivaprakash</a:t>
            </a:r>
            <a:r>
              <a:rPr lang="en-US" sz="2000" b="1" dirty="0">
                <a:latin typeface="Times New Roman"/>
                <a:cs typeface="Times New Roman"/>
              </a:rPr>
              <a:t> S</a:t>
            </a:r>
            <a:endParaRPr lang="en-US" sz="2000" dirty="0">
              <a:latin typeface="Times New Roman"/>
              <a:cs typeface="Times New Roman"/>
            </a:endParaRPr>
          </a:p>
          <a:p>
            <a:pPr marL="149225" indent="-136525">
              <a:lnSpc>
                <a:spcPct val="100000"/>
              </a:lnSpc>
              <a:spcBef>
                <a:spcPts val="20"/>
              </a:spcBef>
              <a:buFont typeface="Times New Roman"/>
              <a:buChar char="•"/>
              <a:tabLst>
                <a:tab pos="149225" algn="l"/>
              </a:tabLst>
            </a:pPr>
            <a:endParaRPr sz="1800" dirty="0">
              <a:latin typeface="Times New Roman"/>
              <a:cs typeface="Times New Roman"/>
            </a:endParaRP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To develop an AI-assisted investigative interview system that supports law enforcement officers by analysing facial expressions, speech characteristics, and conversational responses in real-time to provide behavioural insights, adaptive questioning, and interview summaries without replacing human decision-making.</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sz="3000" b="1" spc="-25" dirty="0">
                <a:latin typeface="Times New Roman" panose="02020603050405020304" pitchFamily="18" charset="0"/>
                <a:cs typeface="Times New Roman" panose="02020603050405020304" pitchFamily="18" charset="0"/>
              </a:rPr>
              <a:t>Aim</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a:lstStyle/>
          <a:p>
            <a:fld id="{61736562-4E3F-4038-A291-A7AE35CC3E6A}" type="datetime1">
              <a:rPr lang="en-IN" smtClean="0"/>
              <a:t>26-07-2026</a:t>
            </a:fld>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a:lstStyle/>
          <a:p>
            <a:fld id="{65201FD4-9D8D-4491-815B-63C7BF4F0034}" type="slidenum">
              <a:rPr lang="en-IN" smtClean="0"/>
              <a:t>2</a:t>
            </a:fld>
            <a:endParaRPr lang="en-IN"/>
          </a:p>
        </p:txBody>
      </p:sp>
    </p:spTree>
    <p:extLst>
      <p:ext uri="{BB962C8B-B14F-4D97-AF65-F5344CB8AC3E}">
        <p14:creationId xmlns:p14="http://schemas.microsoft.com/office/powerpoint/2010/main" val="254351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BFF3D-059F-9891-E472-97775298D35A}"/>
              </a:ext>
            </a:extLst>
          </p:cNvPr>
          <p:cNvSpPr>
            <a:spLocks noGrp="1"/>
          </p:cNvSpPr>
          <p:nvPr>
            <p:ph type="title"/>
          </p:nvPr>
        </p:nvSpPr>
        <p:spPr/>
        <p:txBody>
          <a:bodyPr>
            <a:normAutofit/>
          </a:bodyPr>
          <a:lstStyle/>
          <a:p>
            <a:r>
              <a:rPr lang="en-GB" sz="3000" b="1" spc="-25" dirty="0">
                <a:latin typeface="Times New Roman" panose="02020603050405020304" pitchFamily="18" charset="0"/>
                <a:cs typeface="Times New Roman" panose="02020603050405020304" pitchFamily="18" charset="0"/>
              </a:rPr>
              <a:t>Scope</a:t>
            </a:r>
            <a:endParaRPr lang="en-GB" sz="3000" dirty="0"/>
          </a:p>
        </p:txBody>
      </p:sp>
      <p:sp>
        <p:nvSpPr>
          <p:cNvPr id="3" name="Content Placeholder 2">
            <a:extLst>
              <a:ext uri="{FF2B5EF4-FFF2-40B4-BE49-F238E27FC236}">
                <a16:creationId xmlns:a16="http://schemas.microsoft.com/office/drawing/2014/main" id="{F1490B5B-23E8-63FB-6153-82A83C50DD82}"/>
              </a:ext>
            </a:extLst>
          </p:cNvPr>
          <p:cNvSpPr>
            <a:spLocks noGrp="1"/>
          </p:cNvSpPr>
          <p:nvPr>
            <p:ph idx="1"/>
          </p:nvPr>
        </p:nvSpPr>
        <p:spPr/>
        <p:txBody>
          <a:bodyPr>
            <a:normAutofit fontScale="92500" lnSpcReduction="10000"/>
          </a:bodyPr>
          <a:lstStyle/>
          <a:p>
            <a:pPr algn="just"/>
            <a:r>
              <a:rPr lang="en-IN" dirty="0">
                <a:latin typeface="Times New Roman" panose="02020603050405020304" pitchFamily="18" charset="0"/>
                <a:cs typeface="Times New Roman" panose="02020603050405020304" pitchFamily="18" charset="0"/>
              </a:rPr>
              <a:t>The proposed system aims to:</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Assist investigators during suspect interviews</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Analyse facial emotions through webcam input</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Analyse speech emotion and vocal stress</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Generate adaptive follow-up questions using an LLM</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Detect behavioural inconsistencies</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Produce an interview transcript</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Generate a behavioural timeline for investigators</a:t>
            </a:r>
          </a:p>
          <a:p>
            <a:pPr marL="514350" indent="-514350" algn="just">
              <a:buFont typeface="+mj-lt"/>
              <a:buAutoNum type="arabicPeriod"/>
            </a:pPr>
            <a:r>
              <a:rPr lang="en-GB" dirty="0">
                <a:latin typeface="Times New Roman" panose="02020603050405020304" pitchFamily="18" charset="0"/>
                <a:cs typeface="Times New Roman" panose="02020603050405020304" pitchFamily="18" charset="0"/>
              </a:rPr>
              <a:t>Become a future addition to the immigration department and passport control offices</a:t>
            </a:r>
          </a:p>
          <a:p>
            <a:pPr marL="0" indent="0" algn="just">
              <a:buNone/>
            </a:pPr>
            <a:endParaRPr lang="en-GB" dirty="0">
              <a:latin typeface="Times New Roman" panose="02020603050405020304" pitchFamily="18" charset="0"/>
              <a:cs typeface="Times New Roman" panose="02020603050405020304" pitchFamily="18" charset="0"/>
            </a:endParaRPr>
          </a:p>
          <a:p>
            <a:pPr marL="514350" indent="-514350" algn="just">
              <a:buFont typeface="+mj-lt"/>
              <a:buAutoNum type="arabicPeriod"/>
            </a:pPr>
            <a:endParaRPr lang="en-GB"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F652128-19B8-5226-D9DD-D8109F6AAB16}"/>
              </a:ext>
            </a:extLst>
          </p:cNvPr>
          <p:cNvSpPr>
            <a:spLocks noGrp="1"/>
          </p:cNvSpPr>
          <p:nvPr>
            <p:ph type="dt" sz="half" idx="10"/>
          </p:nvPr>
        </p:nvSpPr>
        <p:spPr/>
        <p:txBody>
          <a:bodyPr/>
          <a:lstStyle/>
          <a:p>
            <a:fld id="{FEA886FF-1BA7-4533-94E6-869CE1E2970B}" type="datetime1">
              <a:rPr lang="en-IN" smtClean="0"/>
              <a:t>27-07-2026</a:t>
            </a:fld>
            <a:endParaRPr lang="en-IN"/>
          </a:p>
        </p:txBody>
      </p:sp>
      <p:sp>
        <p:nvSpPr>
          <p:cNvPr id="5" name="Footer Placeholder 4">
            <a:extLst>
              <a:ext uri="{FF2B5EF4-FFF2-40B4-BE49-F238E27FC236}">
                <a16:creationId xmlns:a16="http://schemas.microsoft.com/office/drawing/2014/main" id="{2E8AE997-3D41-2E7E-05C0-5131A4764E73}"/>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963A101-CD62-841A-B649-C89EA13E298A}"/>
              </a:ext>
            </a:extLst>
          </p:cNvPr>
          <p:cNvSpPr>
            <a:spLocks noGrp="1"/>
          </p:cNvSpPr>
          <p:nvPr>
            <p:ph type="sldNum" sz="quarter" idx="12"/>
          </p:nvPr>
        </p:nvSpPr>
        <p:spPr/>
        <p:txBody>
          <a:bodyPr/>
          <a:lstStyle/>
          <a:p>
            <a:fld id="{65201FD4-9D8D-4491-815B-63C7BF4F0034}" type="slidenum">
              <a:rPr lang="en-IN" smtClean="0"/>
              <a:t>3</a:t>
            </a:fld>
            <a:endParaRPr lang="en-IN"/>
          </a:p>
        </p:txBody>
      </p:sp>
    </p:spTree>
    <p:extLst>
      <p:ext uri="{BB962C8B-B14F-4D97-AF65-F5344CB8AC3E}">
        <p14:creationId xmlns:p14="http://schemas.microsoft.com/office/powerpoint/2010/main" val="833304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fontScale="92500" lnSpcReduction="20000"/>
          </a:bodyPr>
          <a:lstStyle/>
          <a:p>
            <a:pPr algn="just"/>
            <a:r>
              <a:rPr lang="en-IN" dirty="0">
                <a:latin typeface="Times New Roman" panose="02020603050405020304" pitchFamily="18" charset="0"/>
                <a:cs typeface="Times New Roman" panose="02020603050405020304" pitchFamily="18" charset="0"/>
              </a:rPr>
              <a:t>Traditional investigative interviews rely heavily on the experience and observational skills of investigators, making behavioural assessment subjective an inconsistent. Recent advancements in AI, Computer Vision, Speech Emotion Recognition, and LLMs provide new opportunities to support investigators through objective behavioural analysis.</a:t>
            </a:r>
          </a:p>
          <a:p>
            <a:pPr algn="just"/>
            <a:r>
              <a:rPr lang="en-IN" dirty="0">
                <a:latin typeface="Times New Roman" panose="02020603050405020304" pitchFamily="18" charset="0"/>
                <a:cs typeface="Times New Roman" panose="02020603050405020304" pitchFamily="18" charset="0"/>
              </a:rPr>
              <a:t>The proposed AI-Assisted Investigative Interview system integrates facial expression recognition, speech analysis, conversational AI, and adaptive questioning to assist investigators during interviews. The system continuously analyses facial expressions, vocal characteristics, response latency, and conversational context to estimate behavioural changes rather than directly determining deception. Base on these observations, an AI interviewer dynamically modifies questioning strategies and generates interview summaries, behavioural timelines, and investigator recommendations.</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26-07-2026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4</a:t>
            </a:fld>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The project is intended to act as a decision-support tool that enhances investigative interviewing while ensuring that final judgements remain with trained law enforcement personnel. </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a:lstStyle/>
          <a:p>
            <a:fld id="{22261D5D-2F82-4210-B67C-C3AADE7FED47}" type="datetime1">
              <a:rPr lang="en-IN" smtClean="0"/>
              <a:t>27-07-2026</a:t>
            </a:fld>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a:lstStyle/>
          <a:p>
            <a:fld id="{65201FD4-9D8D-4491-815B-63C7BF4F0034}" type="slidenum">
              <a:rPr lang="en-IN" smtClean="0"/>
              <a:t>5</a:t>
            </a:fld>
            <a:endParaRPr lang="en-IN"/>
          </a:p>
        </p:txBody>
      </p:sp>
    </p:spTree>
    <p:extLst>
      <p:ext uri="{BB962C8B-B14F-4D97-AF65-F5344CB8AC3E}">
        <p14:creationId xmlns:p14="http://schemas.microsoft.com/office/powerpoint/2010/main" val="1959415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spc="-25" dirty="0">
                <a:latin typeface="Times New Roman" panose="02020603050405020304" pitchFamily="18" charset="0"/>
                <a:cs typeface="Times New Roman" panose="02020603050405020304" pitchFamily="18" charset="0"/>
              </a:rPr>
              <a:t>Literature Review</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a:lstStyle/>
          <a:p>
            <a:fld id="{E919193B-09C0-4C85-858C-650926A9B146}" type="datetime1">
              <a:rPr lang="en-IN" smtClean="0"/>
              <a:t>26-07-2026</a:t>
            </a:fld>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a:lstStyle/>
          <a:p>
            <a:r>
              <a:rPr lang="en-IN"/>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a:lstStyle/>
          <a:p>
            <a:fld id="{65201FD4-9D8D-4491-815B-63C7BF4F0034}" type="slidenum">
              <a:rPr lang="en-IN" smtClean="0"/>
              <a:t>6</a:t>
            </a:fld>
            <a:endParaRPr lang="en-IN"/>
          </a:p>
        </p:txBody>
      </p:sp>
      <p:graphicFrame>
        <p:nvGraphicFramePr>
          <p:cNvPr id="16" name="Content Placeholder 15">
            <a:extLst>
              <a:ext uri="{FF2B5EF4-FFF2-40B4-BE49-F238E27FC236}">
                <a16:creationId xmlns:a16="http://schemas.microsoft.com/office/drawing/2014/main" id="{E321AEFC-A2FC-D263-8973-9D73B2879489}"/>
              </a:ext>
            </a:extLst>
          </p:cNvPr>
          <p:cNvGraphicFramePr>
            <a:graphicFrameLocks noGrp="1"/>
          </p:cNvGraphicFramePr>
          <p:nvPr>
            <p:ph idx="1"/>
            <p:extLst>
              <p:ext uri="{D42A27DB-BD31-4B8C-83A1-F6EECF244321}">
                <p14:modId xmlns:p14="http://schemas.microsoft.com/office/powerpoint/2010/main" val="3586155078"/>
              </p:ext>
            </p:extLst>
          </p:nvPr>
        </p:nvGraphicFramePr>
        <p:xfrm>
          <a:off x="838200" y="1825625"/>
          <a:ext cx="10515597" cy="39370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3477518671"/>
                    </a:ext>
                  </a:extLst>
                </a:gridCol>
                <a:gridCol w="3505199">
                  <a:extLst>
                    <a:ext uri="{9D8B030D-6E8A-4147-A177-3AD203B41FA5}">
                      <a16:colId xmlns:a16="http://schemas.microsoft.com/office/drawing/2014/main" val="2969681608"/>
                    </a:ext>
                  </a:extLst>
                </a:gridCol>
                <a:gridCol w="3505199">
                  <a:extLst>
                    <a:ext uri="{9D8B030D-6E8A-4147-A177-3AD203B41FA5}">
                      <a16:colId xmlns:a16="http://schemas.microsoft.com/office/drawing/2014/main" val="1550941405"/>
                    </a:ext>
                  </a:extLst>
                </a:gridCol>
              </a:tblGrid>
              <a:tr h="370840">
                <a:tc>
                  <a:txBody>
                    <a:bodyPr/>
                    <a:lstStyle/>
                    <a:p>
                      <a:pPr algn="l"/>
                      <a:r>
                        <a:rPr lang="en-GB" dirty="0">
                          <a:latin typeface="Times New Roman" panose="02020603050405020304" pitchFamily="18" charset="0"/>
                          <a:cs typeface="Times New Roman" panose="02020603050405020304" pitchFamily="18" charset="0"/>
                        </a:rPr>
                        <a:t>Paper</a:t>
                      </a:r>
                    </a:p>
                  </a:txBody>
                  <a:tcPr/>
                </a:tc>
                <a:tc>
                  <a:txBody>
                    <a:bodyPr/>
                    <a:lstStyle/>
                    <a:p>
                      <a:pPr algn="l"/>
                      <a:r>
                        <a:rPr lang="en-GB" dirty="0">
                          <a:latin typeface="Times New Roman" panose="02020603050405020304" pitchFamily="18" charset="0"/>
                          <a:cs typeface="Times New Roman" panose="02020603050405020304" pitchFamily="18" charset="0"/>
                        </a:rPr>
                        <a:t>Contribution</a:t>
                      </a:r>
                    </a:p>
                  </a:txBody>
                  <a:tcPr/>
                </a:tc>
                <a:tc>
                  <a:txBody>
                    <a:bodyPr/>
                    <a:lstStyle/>
                    <a:p>
                      <a:pPr algn="l"/>
                      <a:r>
                        <a:rPr lang="en-GB" dirty="0">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1887337985"/>
                  </a:ext>
                </a:extLst>
              </a:tr>
              <a:tr h="370840">
                <a:tc>
                  <a:txBody>
                    <a:bodyPr/>
                    <a:lstStyle/>
                    <a:p>
                      <a:pPr algn="l"/>
                      <a:r>
                        <a:rPr lang="en-GB" dirty="0">
                          <a:latin typeface="Times New Roman" panose="02020603050405020304" pitchFamily="18" charset="0"/>
                          <a:cs typeface="Times New Roman" panose="02020603050405020304" pitchFamily="18" charset="0"/>
                        </a:rPr>
                        <a:t>Intu-AI: Digitalization of Police Interrogation Supported by Artificial Intelligence(2025)</a:t>
                      </a:r>
                    </a:p>
                  </a:txBody>
                  <a:tcPr/>
                </a:tc>
                <a:tc>
                  <a:txBody>
                    <a:bodyPr/>
                    <a:lstStyle/>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AI-assisted police interrogation</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Facial Emotion Recognition</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Speech Emotion Recognition</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Text Emotion Analysis</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Automated documentation</a:t>
                      </a:r>
                    </a:p>
                  </a:txBody>
                  <a:tcPr/>
                </a:tc>
                <a:tc>
                  <a:txBody>
                    <a:bodyPr/>
                    <a:lstStyle/>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Limited adaptive questioning </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behavioural timeline</a:t>
                      </a:r>
                    </a:p>
                    <a:p>
                      <a:pPr marL="0" indent="0" algn="l">
                        <a:buFont typeface="Arial" panose="020B0604020202020204" pitchFamily="34" charset="0"/>
                        <a:buNone/>
                      </a:pPr>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81945801"/>
                  </a:ext>
                </a:extLst>
              </a:tr>
              <a:tr h="370840">
                <a:tc>
                  <a:txBody>
                    <a:bodyPr/>
                    <a:lstStyle/>
                    <a:p>
                      <a:pPr algn="l"/>
                      <a:r>
                        <a:rPr lang="en-GB" dirty="0">
                          <a:latin typeface="Times New Roman" panose="02020603050405020304" pitchFamily="18" charset="0"/>
                          <a:cs typeface="Times New Roman" panose="02020603050405020304" pitchFamily="18" charset="0"/>
                        </a:rPr>
                        <a:t>Detecting Lies in Investigative Interview Through Response Latencies and Unexpected Questions (Nature,2024)</a:t>
                      </a:r>
                    </a:p>
                  </a:txBody>
                  <a:tcPr/>
                </a:tc>
                <a:tc>
                  <a:txBody>
                    <a:bodyPr/>
                    <a:lstStyle/>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Response latency analysis</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Cognitive load estimation</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Unexpected questioning</a:t>
                      </a:r>
                    </a:p>
                  </a:txBody>
                  <a:tcPr/>
                </a:tc>
                <a:tc>
                  <a:txBody>
                    <a:bodyPr/>
                    <a:lstStyle/>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multimodal emotion recognition </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AI conversational assistant</a:t>
                      </a:r>
                    </a:p>
                    <a:p>
                      <a:pPr marL="0" indent="0" algn="l">
                        <a:buFont typeface="Arial" panose="020B0604020202020204" pitchFamily="34" charset="0"/>
                        <a:buNone/>
                      </a:pPr>
                      <a:endParaRPr lang="en-GB"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28284483"/>
                  </a:ext>
                </a:extLst>
              </a:tr>
              <a:tr h="370840">
                <a:tc>
                  <a:txBody>
                    <a:bodyPr/>
                    <a:lstStyle/>
                    <a:p>
                      <a:pPr algn="l"/>
                      <a:r>
                        <a:rPr lang="en-GB" dirty="0">
                          <a:latin typeface="Times New Roman" panose="02020603050405020304" pitchFamily="18" charset="0"/>
                          <a:cs typeface="Times New Roman" panose="02020603050405020304" pitchFamily="18" charset="0"/>
                        </a:rPr>
                        <a:t>LAPIS: Language Model-Augmented Police Investigation System (2024)</a:t>
                      </a:r>
                    </a:p>
                  </a:txBody>
                  <a:tcPr/>
                </a:tc>
                <a:tc>
                  <a:txBody>
                    <a:bodyPr/>
                    <a:lstStyle/>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LLM-powered police assistant</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Legal reasoning </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Investigation guidance</a:t>
                      </a:r>
                    </a:p>
                  </a:txBody>
                  <a:tcPr/>
                </a:tc>
                <a:tc>
                  <a:txBody>
                    <a:bodyPr/>
                    <a:lstStyle/>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real-time behavioural analysis</a:t>
                      </a:r>
                    </a:p>
                    <a:p>
                      <a:pPr marL="285750" indent="-285750" algn="l">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 facial or speech processing </a:t>
                      </a:r>
                    </a:p>
                  </a:txBody>
                  <a:tcPr/>
                </a:tc>
                <a:extLst>
                  <a:ext uri="{0D108BD9-81ED-4DB2-BD59-A6C34878D82A}">
                    <a16:rowId xmlns:a16="http://schemas.microsoft.com/office/drawing/2014/main" val="2750338079"/>
                  </a:ext>
                </a:extLst>
              </a:tr>
            </a:tbl>
          </a:graphicData>
        </a:graphic>
      </p:graphicFrame>
    </p:spTree>
    <p:extLst>
      <p:ext uri="{BB962C8B-B14F-4D97-AF65-F5344CB8AC3E}">
        <p14:creationId xmlns:p14="http://schemas.microsoft.com/office/powerpoint/2010/main" val="8574497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68EB3-8337-0D65-5D05-CD4971BF5AB1}"/>
              </a:ext>
            </a:extLst>
          </p:cNvPr>
          <p:cNvSpPr>
            <a:spLocks noGrp="1"/>
          </p:cNvSpPr>
          <p:nvPr>
            <p:ph type="title"/>
          </p:nvPr>
        </p:nvSpPr>
        <p:spPr/>
        <p:txBody>
          <a:bodyPr>
            <a:normAutofit/>
          </a:bodyPr>
          <a:lstStyle/>
          <a:p>
            <a:r>
              <a:rPr lang="en-IN" sz="3000" b="1" spc="-25" dirty="0">
                <a:latin typeface="Times New Roman" panose="02020603050405020304" pitchFamily="18" charset="0"/>
                <a:cs typeface="Times New Roman" panose="02020603050405020304" pitchFamily="18" charset="0"/>
              </a:rPr>
              <a:t>Literature Review</a:t>
            </a:r>
            <a:endParaRPr lang="en-GB" sz="3000" dirty="0">
              <a:latin typeface="Times New Roman" panose="02020603050405020304" pitchFamily="18"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00FA5ED6-5B2E-F1B5-B5C7-9EDBC6AC29AF}"/>
              </a:ext>
            </a:extLst>
          </p:cNvPr>
          <p:cNvGraphicFramePr>
            <a:graphicFrameLocks noGrp="1"/>
          </p:cNvGraphicFramePr>
          <p:nvPr>
            <p:ph idx="1"/>
            <p:extLst>
              <p:ext uri="{D42A27DB-BD31-4B8C-83A1-F6EECF244321}">
                <p14:modId xmlns:p14="http://schemas.microsoft.com/office/powerpoint/2010/main" val="1139654490"/>
              </p:ext>
            </p:extLst>
          </p:nvPr>
        </p:nvGraphicFramePr>
        <p:xfrm>
          <a:off x="838200" y="1825625"/>
          <a:ext cx="10515597" cy="247396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856174039"/>
                    </a:ext>
                  </a:extLst>
                </a:gridCol>
                <a:gridCol w="3505199">
                  <a:extLst>
                    <a:ext uri="{9D8B030D-6E8A-4147-A177-3AD203B41FA5}">
                      <a16:colId xmlns:a16="http://schemas.microsoft.com/office/drawing/2014/main" val="2636812415"/>
                    </a:ext>
                  </a:extLst>
                </a:gridCol>
                <a:gridCol w="3505199">
                  <a:extLst>
                    <a:ext uri="{9D8B030D-6E8A-4147-A177-3AD203B41FA5}">
                      <a16:colId xmlns:a16="http://schemas.microsoft.com/office/drawing/2014/main" val="2832371607"/>
                    </a:ext>
                  </a:extLst>
                </a:gridCol>
              </a:tblGrid>
              <a:tr h="370840">
                <a:tc>
                  <a:txBody>
                    <a:bodyPr/>
                    <a:lstStyle/>
                    <a:p>
                      <a:r>
                        <a:rPr lang="en-GB" dirty="0">
                          <a:latin typeface="Times New Roman" panose="02020603050405020304" pitchFamily="18" charset="0"/>
                          <a:cs typeface="Times New Roman" panose="02020603050405020304" pitchFamily="18" charset="0"/>
                        </a:rPr>
                        <a:t>Paper</a:t>
                      </a:r>
                    </a:p>
                  </a:txBody>
                  <a:tcPr/>
                </a:tc>
                <a:tc>
                  <a:txBody>
                    <a:bodyPr/>
                    <a:lstStyle/>
                    <a:p>
                      <a:r>
                        <a:rPr lang="en-GB" dirty="0">
                          <a:latin typeface="Times New Roman" panose="02020603050405020304" pitchFamily="18" charset="0"/>
                          <a:cs typeface="Times New Roman" panose="02020603050405020304" pitchFamily="18" charset="0"/>
                        </a:rPr>
                        <a:t>Contribution</a:t>
                      </a:r>
                    </a:p>
                  </a:txBody>
                  <a:tcPr/>
                </a:tc>
                <a:tc>
                  <a:txBody>
                    <a:bodyPr/>
                    <a:lstStyle/>
                    <a:p>
                      <a:r>
                        <a:rPr lang="en-GB" dirty="0">
                          <a:latin typeface="Times New Roman" panose="02020603050405020304" pitchFamily="18" charset="0"/>
                          <a:cs typeface="Times New Roman" panose="02020603050405020304" pitchFamily="18" charset="0"/>
                        </a:rPr>
                        <a:t>Limitation</a:t>
                      </a:r>
                    </a:p>
                  </a:txBody>
                  <a:tcPr/>
                </a:tc>
                <a:extLst>
                  <a:ext uri="{0D108BD9-81ED-4DB2-BD59-A6C34878D82A}">
                    <a16:rowId xmlns:a16="http://schemas.microsoft.com/office/drawing/2014/main" val="3501286415"/>
                  </a:ext>
                </a:extLst>
              </a:tr>
              <a:tr h="370840">
                <a:tc>
                  <a:txBody>
                    <a:bodyPr/>
                    <a:lstStyle/>
                    <a:p>
                      <a:r>
                        <a:rPr lang="en-GB" dirty="0">
                          <a:latin typeface="Times New Roman" panose="02020603050405020304" pitchFamily="18" charset="0"/>
                          <a:cs typeface="Times New Roman" panose="02020603050405020304" pitchFamily="18" charset="0"/>
                        </a:rPr>
                        <a:t>A Deception Detection Model Using Integrated LLM with Emotion Features (2025)</a:t>
                      </a:r>
                    </a:p>
                  </a:txBody>
                  <a:tcPr/>
                </a:tc>
                <a:tc>
                  <a:txBody>
                    <a:bodyPr/>
                    <a:lstStyle/>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Multimodal emotion fusion</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Behavioural feature extraction</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LLM integration</a:t>
                      </a:r>
                    </a:p>
                  </a:txBody>
                  <a:tcPr/>
                </a:tc>
                <a:tc>
                  <a:txBody>
                    <a:bodyPr/>
                    <a:lstStyle/>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Focuses on classification</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Doesn’t support adaptive interviewing</a:t>
                      </a:r>
                    </a:p>
                  </a:txBody>
                  <a:tcPr/>
                </a:tc>
                <a:extLst>
                  <a:ext uri="{0D108BD9-81ED-4DB2-BD59-A6C34878D82A}">
                    <a16:rowId xmlns:a16="http://schemas.microsoft.com/office/drawing/2014/main" val="3290573453"/>
                  </a:ext>
                </a:extLst>
              </a:tr>
              <a:tr h="370840">
                <a:tc>
                  <a:txBody>
                    <a:bodyPr/>
                    <a:lstStyle/>
                    <a:p>
                      <a:r>
                        <a:rPr lang="en-GB" dirty="0">
                          <a:latin typeface="Times New Roman" panose="02020603050405020304" pitchFamily="18" charset="0"/>
                          <a:cs typeface="Times New Roman" panose="02020603050405020304" pitchFamily="18" charset="0"/>
                        </a:rPr>
                        <a:t>AI-Driven Policing Using Police Body-Worn Cameras (2025) </a:t>
                      </a:r>
                    </a:p>
                  </a:txBody>
                  <a:tcPr/>
                </a:tc>
                <a:tc>
                  <a:txBody>
                    <a:bodyPr/>
                    <a:lstStyle/>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Behaviour recognition </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Video understanding </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Audio analysis </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Event summarization </a:t>
                      </a:r>
                    </a:p>
                  </a:txBody>
                  <a:tcPr/>
                </a:tc>
                <a:tc>
                  <a:txBody>
                    <a:bodyPr/>
                    <a:lstStyle/>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Focuses on bodycam footage </a:t>
                      </a:r>
                    </a:p>
                    <a:p>
                      <a:pPr marL="285750" indent="-285750">
                        <a:buFont typeface="Arial" panose="020B0604020202020204" pitchFamily="34" charset="0"/>
                        <a:buChar char="•"/>
                      </a:pPr>
                      <a:r>
                        <a:rPr lang="en-GB" dirty="0">
                          <a:latin typeface="Times New Roman" panose="02020603050405020304" pitchFamily="18" charset="0"/>
                          <a:cs typeface="Times New Roman" panose="02020603050405020304" pitchFamily="18" charset="0"/>
                        </a:rPr>
                        <a:t>Not designed for suspect interviews </a:t>
                      </a:r>
                    </a:p>
                  </a:txBody>
                  <a:tcPr/>
                </a:tc>
                <a:extLst>
                  <a:ext uri="{0D108BD9-81ED-4DB2-BD59-A6C34878D82A}">
                    <a16:rowId xmlns:a16="http://schemas.microsoft.com/office/drawing/2014/main" val="1150719137"/>
                  </a:ext>
                </a:extLst>
              </a:tr>
            </a:tbl>
          </a:graphicData>
        </a:graphic>
      </p:graphicFrame>
      <p:sp>
        <p:nvSpPr>
          <p:cNvPr id="4" name="Date Placeholder 3">
            <a:extLst>
              <a:ext uri="{FF2B5EF4-FFF2-40B4-BE49-F238E27FC236}">
                <a16:creationId xmlns:a16="http://schemas.microsoft.com/office/drawing/2014/main" id="{4F8CC53C-AC8D-F4EA-3008-39A8195AE117}"/>
              </a:ext>
            </a:extLst>
          </p:cNvPr>
          <p:cNvSpPr>
            <a:spLocks noGrp="1"/>
          </p:cNvSpPr>
          <p:nvPr>
            <p:ph type="dt" sz="half" idx="10"/>
          </p:nvPr>
        </p:nvSpPr>
        <p:spPr/>
        <p:txBody>
          <a:bodyPr/>
          <a:lstStyle/>
          <a:p>
            <a:fld id="{FEA886FF-1BA7-4533-94E6-869CE1E2970B}" type="datetime1">
              <a:rPr lang="en-IN" smtClean="0"/>
              <a:t>27-07-2026</a:t>
            </a:fld>
            <a:endParaRPr lang="en-IN"/>
          </a:p>
        </p:txBody>
      </p:sp>
      <p:sp>
        <p:nvSpPr>
          <p:cNvPr id="5" name="Footer Placeholder 4">
            <a:extLst>
              <a:ext uri="{FF2B5EF4-FFF2-40B4-BE49-F238E27FC236}">
                <a16:creationId xmlns:a16="http://schemas.microsoft.com/office/drawing/2014/main" id="{E7EC9705-6F48-F106-0D72-C3F99E817C92}"/>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83FD1E0-638C-9339-55ED-FC816F89B080}"/>
              </a:ext>
            </a:extLst>
          </p:cNvPr>
          <p:cNvSpPr>
            <a:spLocks noGrp="1"/>
          </p:cNvSpPr>
          <p:nvPr>
            <p:ph type="sldNum" sz="quarter" idx="12"/>
          </p:nvPr>
        </p:nvSpPr>
        <p:spPr/>
        <p:txBody>
          <a:bodyPr/>
          <a:lstStyle/>
          <a:p>
            <a:fld id="{65201FD4-9D8D-4491-815B-63C7BF4F0034}" type="slidenum">
              <a:rPr lang="en-IN" smtClean="0"/>
              <a:t>7</a:t>
            </a:fld>
            <a:endParaRPr lang="en-IN"/>
          </a:p>
        </p:txBody>
      </p:sp>
    </p:spTree>
    <p:extLst>
      <p:ext uri="{BB962C8B-B14F-4D97-AF65-F5344CB8AC3E}">
        <p14:creationId xmlns:p14="http://schemas.microsoft.com/office/powerpoint/2010/main" val="1695381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fontScale="85000" lnSpcReduction="20000"/>
          </a:bodyPr>
          <a:lstStyle/>
          <a:p>
            <a:pPr algn="just"/>
            <a:r>
              <a:rPr lang="en-IN" dirty="0">
                <a:latin typeface="Times New Roman" panose="02020603050405020304" pitchFamily="18" charset="0"/>
                <a:cs typeface="Times New Roman" panose="02020603050405020304" pitchFamily="18" charset="0"/>
              </a:rPr>
              <a:t>Current AI systems primarily focus on isolated tasks such as facial emotion recognition, speech analysis, deception classification, or legal reasoning. Existing solutions rarely integrate these capabilities into a unified investigative interview platform.</a:t>
            </a:r>
          </a:p>
          <a:p>
            <a:pPr algn="just"/>
            <a:r>
              <a:rPr lang="en-IN" dirty="0">
                <a:latin typeface="Times New Roman" panose="02020603050405020304" pitchFamily="18" charset="0"/>
                <a:cs typeface="Times New Roman" panose="02020603050405020304" pitchFamily="18" charset="0"/>
              </a:rPr>
              <a:t>Current limitations include: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Static interview process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No adaptive questioning strategy</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Limited integration of facial, speech, and textual cues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Lack of real-time investigator assistance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No behavioural timeline visualization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Minimal explainability of AI recommendations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Heavy dependence on offline analysis rather than live decision support</a:t>
            </a:r>
          </a:p>
          <a:p>
            <a:pPr marL="514350" indent="-514350" algn="just">
              <a:buFont typeface="+mj-lt"/>
              <a:buAutoNum type="arabicPeriod"/>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Research Gap</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26-07-2026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8</a:t>
            </a:fld>
            <a:endParaRPr lang="en-IN"/>
          </a:p>
        </p:txBody>
      </p:sp>
    </p:spTree>
    <p:extLst>
      <p:ext uri="{BB962C8B-B14F-4D97-AF65-F5344CB8AC3E}">
        <p14:creationId xmlns:p14="http://schemas.microsoft.com/office/powerpoint/2010/main" val="26231028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a:normAutofit lnSpcReduction="10000"/>
          </a:bodyPr>
          <a:lstStyle/>
          <a:p>
            <a:pPr algn="just"/>
            <a:r>
              <a:rPr lang="en-IN" dirty="0">
                <a:latin typeface="Times New Roman" panose="02020603050405020304" pitchFamily="18" charset="0"/>
                <a:cs typeface="Times New Roman" panose="02020603050405020304" pitchFamily="18" charset="0"/>
              </a:rPr>
              <a:t>Develop an AI-assisted interview platform capable of:</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Real-time facial emotion recognition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Speech emotion recognition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Behavioural cue analysis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Adaptive AI questioning </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Live behavioural dashboard</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Automatic interview transcription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Investigator recommendation system</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Behaviour timeline generation</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Proposed Solution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a:lstStyle/>
          <a:p>
            <a:fld id="{49AE986A-8308-4C4E-A0F3-DDD9B5B25762}" type="datetime1">
              <a:rPr lang="en-IN" smtClean="0"/>
              <a:t>27-07-2026</a:t>
            </a:fld>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a:lstStyle/>
          <a:p>
            <a:fld id="{65201FD4-9D8D-4491-815B-63C7BF4F0034}" type="slidenum">
              <a:rPr lang="en-IN" smtClean="0"/>
              <a:t>9</a:t>
            </a:fld>
            <a:endParaRPr lang="en-IN"/>
          </a:p>
        </p:txBody>
      </p:sp>
    </p:spTree>
    <p:extLst>
      <p:ext uri="{BB962C8B-B14F-4D97-AF65-F5344CB8AC3E}">
        <p14:creationId xmlns:p14="http://schemas.microsoft.com/office/powerpoint/2010/main" val="2138814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p:txBody>
          <a:bodyPr>
            <a:normAutofit fontScale="92500"/>
          </a:bodyPr>
          <a:lstStyle/>
          <a:p>
            <a:pPr algn="just"/>
            <a:r>
              <a:rPr lang="en-IN" dirty="0">
                <a:latin typeface="Times New Roman" panose="02020603050405020304" pitchFamily="18" charset="0"/>
                <a:cs typeface="Times New Roman" panose="02020603050405020304" pitchFamily="18" charset="0"/>
              </a:rPr>
              <a:t>Primary objective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Develop a multimodal behavioural analysis system</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Detect facial emotions using computer vision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Analyse vocal stress and speech emotion</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Generate adaptive interview questions using an LLM</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Monitor behavioural consistency throughout the interview</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Produce interview summaries and behavioural reports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Visualize emotional changes over time </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Assist investigators while keeping final decisions under human control</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26-07-2026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10</a:t>
            </a:fld>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59624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p:txBody>
          <a:bodyPr>
            <a:normAutofit/>
          </a:bodyPr>
          <a:lstStyle/>
          <a:p>
            <a:pPr algn="just"/>
            <a:r>
              <a:rPr lang="en-IN" dirty="0">
                <a:latin typeface="Times New Roman" panose="02020603050405020304" pitchFamily="18" charset="0"/>
                <a:cs typeface="Times New Roman" panose="02020603050405020304" pitchFamily="18" charset="0"/>
              </a:rPr>
              <a:t>Sustainable Development Goals</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SDG 9 : Industry, Innovation and Infrastructure</a:t>
            </a:r>
          </a:p>
          <a:p>
            <a:pPr marL="514350" indent="-514350" algn="just">
              <a:buFont typeface="+mj-lt"/>
              <a:buAutoNum type="arabicPeriod"/>
            </a:pPr>
            <a:r>
              <a:rPr lang="en-IN" dirty="0">
                <a:latin typeface="Times New Roman" panose="02020603050405020304" pitchFamily="18" charset="0"/>
                <a:cs typeface="Times New Roman" panose="02020603050405020304" pitchFamily="18" charset="0"/>
              </a:rPr>
              <a:t>SDG 16: Peace, Justice and Strong Institutions</a:t>
            </a: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Objectives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a:lstStyle/>
          <a:p>
            <a:fld id="{FEC21BBC-35C1-4163-B59F-12E882240DC0}" type="datetime1">
              <a:rPr lang="en-IN" smtClean="0">
                <a:latin typeface="Times New Roman" panose="02020603050405020304" pitchFamily="18" charset="0"/>
                <a:cs typeface="Times New Roman" panose="02020603050405020304" pitchFamily="18" charset="0"/>
              </a:rPr>
              <a:t>27-07-2026</a:t>
            </a:fld>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a:lstStyle/>
          <a:p>
            <a:r>
              <a:rPr lang="en-IN" dirty="0">
                <a:latin typeface="Times New Roman" panose="02020603050405020304" pitchFamily="18" charset="0"/>
                <a:cs typeface="Times New Roman" panose="02020603050405020304" pitchFamily="18" charset="0"/>
              </a:rP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a:lstStyle/>
          <a:p>
            <a:fld id="{65201FD4-9D8D-4491-815B-63C7BF4F0034}" type="slidenum">
              <a:rPr lang="en-IN" smtClean="0">
                <a:latin typeface="Times New Roman" panose="02020603050405020304" pitchFamily="18" charset="0"/>
                <a:cs typeface="Times New Roman" panose="02020603050405020304" pitchFamily="18" charset="0"/>
              </a:rPr>
              <a:t>11</a:t>
            </a:fld>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413148"/>
            <a:ext cx="11523407" cy="89255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Identified:   Sustainable Development Goals	|			| </a:t>
            </a:r>
            <a:r>
              <a:rPr lang="en-IN" sz="1600" dirty="0">
                <a:latin typeface="Times New Roman" panose="02020603050405020304" pitchFamily="18" charset="0"/>
                <a:cs typeface="Times New Roman" panose="02020603050405020304" pitchFamily="18" charset="0"/>
              </a:rPr>
              <a:t>Outcomes (</a:t>
            </a:r>
            <a:r>
              <a:rPr lang="en-US" sz="1600" dirty="0">
                <a:latin typeface="Times New Roman" panose="02020603050405020304" pitchFamily="18" charset="0"/>
                <a:cs typeface="Times New Roman" panose="02020603050405020304" pitchFamily="18" charset="0"/>
              </a:rPr>
              <a:t>(Patent / Conference (Scopus)</a:t>
            </a:r>
          </a:p>
          <a:p>
            <a:r>
              <a:rPr lang="en-US" sz="1600" dirty="0">
                <a:latin typeface="Times New Roman" panose="02020603050405020304" pitchFamily="18" charset="0"/>
                <a:cs typeface="Times New Roman" panose="02020603050405020304" pitchFamily="18" charset="0"/>
              </a:rPr>
              <a:t>								/ Journal (Scopus) / Start-up/ Product/ Others}</a:t>
            </a:r>
            <a:endParaRPr lang="en-IN" sz="1600"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1990701" y="4778273"/>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237545" y="4413148"/>
            <a:ext cx="2447027" cy="2232651"/>
          </a:xfrm>
          <a:prstGeom prst="rect">
            <a:avLst/>
          </a:prstGeom>
        </p:spPr>
      </p:pic>
    </p:spTree>
    <p:extLst>
      <p:ext uri="{BB962C8B-B14F-4D97-AF65-F5344CB8AC3E}">
        <p14:creationId xmlns:p14="http://schemas.microsoft.com/office/powerpoint/2010/main" val="3691356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0" tIns="113919" rIns="0" bIns="0" rtlCol="0">
            <a:spAutoFit/>
          </a:bodyPr>
          <a:lstStyle/>
          <a:p>
            <a:pPr marL="486409">
              <a:lnSpc>
                <a:spcPct val="100000"/>
              </a:lnSpc>
              <a:spcBef>
                <a:spcPts val="130"/>
              </a:spcBef>
            </a:pPr>
            <a:r>
              <a:rPr lang="en-IN" sz="3000" b="1" dirty="0">
                <a:latin typeface="Times New Roman" panose="02020603050405020304" pitchFamily="18" charset="0"/>
                <a:cs typeface="Times New Roman" panose="02020603050405020304" pitchFamily="18" charset="0"/>
              </a:rP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838200" y="1166922"/>
            <a:ext cx="10515600"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00000"/>
              </a:lnSpc>
              <a:spcBef>
                <a:spcPct val="0"/>
              </a:spcBef>
              <a:spcAft>
                <a:spcPct val="0"/>
              </a:spcAft>
              <a:buNone/>
            </a:pPr>
            <a:r>
              <a:rPr lang="en-IN" sz="2200" dirty="0">
                <a:latin typeface="Times New Roman" panose="02020603050405020304" pitchFamily="18" charset="0"/>
                <a:cs typeface="Times New Roman" panose="02020603050405020304" pitchFamily="18" charset="0"/>
              </a:rPr>
              <a:t>[1] </a:t>
            </a:r>
            <a:r>
              <a:rPr lang="en-GB" sz="2200" dirty="0">
                <a:latin typeface="Times New Roman" panose="02020603050405020304" pitchFamily="18" charset="0"/>
                <a:cs typeface="Times New Roman" panose="02020603050405020304" pitchFamily="18" charset="0"/>
              </a:rPr>
              <a:t>INTU-AI: Digitalization of Police Interrogation Supported by Artificial Intelligence. </a:t>
            </a:r>
            <a:r>
              <a:rPr lang="en-GB" sz="2200" i="1" dirty="0">
                <a:latin typeface="Times New Roman" panose="02020603050405020304" pitchFamily="18" charset="0"/>
                <a:cs typeface="Times New Roman" panose="02020603050405020304" pitchFamily="18" charset="0"/>
              </a:rPr>
              <a:t>Applied Sciences</a:t>
            </a:r>
            <a:r>
              <a:rPr lang="en-GB" sz="2200" dirty="0">
                <a:latin typeface="Times New Roman" panose="02020603050405020304" pitchFamily="18" charset="0"/>
                <a:cs typeface="Times New Roman" panose="02020603050405020304" pitchFamily="18" charset="0"/>
              </a:rPr>
              <a:t>, 2025.</a:t>
            </a:r>
          </a:p>
          <a:p>
            <a:pPr marL="0" indent="0" algn="just" eaLnBrk="0" fontAlgn="base" hangingPunct="0">
              <a:lnSpc>
                <a:spcPct val="100000"/>
              </a:lnSpc>
              <a:spcBef>
                <a:spcPct val="0"/>
              </a:spcBef>
              <a:spcAft>
                <a:spcPct val="0"/>
              </a:spcAft>
              <a:buNone/>
            </a:pPr>
            <a:r>
              <a:rPr lang="en-IN" sz="2200" dirty="0">
                <a:latin typeface="Times New Roman" panose="02020603050405020304" pitchFamily="18" charset="0"/>
                <a:cs typeface="Times New Roman" panose="02020603050405020304" pitchFamily="18" charset="0"/>
              </a:rPr>
              <a:t>[2] </a:t>
            </a:r>
            <a:r>
              <a:rPr lang="en-GB" sz="2200" dirty="0">
                <a:latin typeface="Times New Roman" panose="02020603050405020304" pitchFamily="18" charset="0"/>
                <a:cs typeface="Times New Roman" panose="02020603050405020304" pitchFamily="18" charset="0"/>
              </a:rPr>
              <a:t>Detecting Lies in Investigative Interviews Through Response Latencies and Unexpected Questions. </a:t>
            </a:r>
            <a:r>
              <a:rPr lang="en-GB" sz="2200" i="1" dirty="0">
                <a:latin typeface="Times New Roman" panose="02020603050405020304" pitchFamily="18" charset="0"/>
                <a:cs typeface="Times New Roman" panose="02020603050405020304" pitchFamily="18" charset="0"/>
              </a:rPr>
              <a:t>Scientific Reports (Nature)</a:t>
            </a:r>
            <a:r>
              <a:rPr lang="en-GB" sz="2200" dirty="0">
                <a:latin typeface="Times New Roman" panose="02020603050405020304" pitchFamily="18" charset="0"/>
                <a:cs typeface="Times New Roman" panose="02020603050405020304" pitchFamily="18" charset="0"/>
              </a:rPr>
              <a:t>, 2024.</a:t>
            </a:r>
          </a:p>
          <a:p>
            <a:pPr marL="0" indent="0" algn="just" eaLnBrk="0" fontAlgn="base" hangingPunct="0">
              <a:lnSpc>
                <a:spcPct val="100000"/>
              </a:lnSpc>
              <a:spcBef>
                <a:spcPct val="0"/>
              </a:spcBef>
              <a:spcAft>
                <a:spcPct val="0"/>
              </a:spcAft>
              <a:buNone/>
            </a:pPr>
            <a:r>
              <a:rPr kumimoji="0" lang="en-GB"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a:t>
            </a:r>
            <a:r>
              <a:rPr lang="en-GB" sz="2200" dirty="0">
                <a:latin typeface="Times New Roman" panose="02020603050405020304" pitchFamily="18" charset="0"/>
                <a:cs typeface="Times New Roman" panose="02020603050405020304" pitchFamily="18" charset="0"/>
              </a:rPr>
              <a:t>LAPIS: Language Model-Augmented Police Investigation System. </a:t>
            </a:r>
            <a:r>
              <a:rPr lang="en-GB" sz="2200" dirty="0" err="1">
                <a:latin typeface="Times New Roman" panose="02020603050405020304" pitchFamily="18" charset="0"/>
                <a:cs typeface="Times New Roman" panose="02020603050405020304" pitchFamily="18" charset="0"/>
              </a:rPr>
              <a:t>arXiv</a:t>
            </a:r>
            <a:r>
              <a:rPr lang="en-GB" sz="2200" dirty="0">
                <a:latin typeface="Times New Roman" panose="02020603050405020304" pitchFamily="18" charset="0"/>
                <a:cs typeface="Times New Roman" panose="02020603050405020304" pitchFamily="18" charset="0"/>
              </a:rPr>
              <a:t>, 2024.</a:t>
            </a:r>
            <a:endParaRPr kumimoji="0" lang="en-GB"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GB" altLang="en-US" sz="2200" dirty="0">
                <a:latin typeface="Times New Roman" panose="02020603050405020304" pitchFamily="18" charset="0"/>
                <a:cs typeface="Times New Roman" panose="02020603050405020304" pitchFamily="18" charset="0"/>
              </a:rPr>
              <a:t>[4] </a:t>
            </a:r>
            <a:r>
              <a:rPr lang="en-GB" sz="2200" dirty="0">
                <a:latin typeface="Times New Roman" panose="02020603050405020304" pitchFamily="18" charset="0"/>
                <a:cs typeface="Times New Roman" panose="02020603050405020304" pitchFamily="18" charset="0"/>
              </a:rPr>
              <a:t>A Deception Detection Model Using Integrated LLM with Emotion Features. </a:t>
            </a:r>
            <a:r>
              <a:rPr lang="en-GB" sz="2200" i="1" dirty="0">
                <a:latin typeface="Times New Roman" panose="02020603050405020304" pitchFamily="18" charset="0"/>
                <a:cs typeface="Times New Roman" panose="02020603050405020304" pitchFamily="18" charset="0"/>
              </a:rPr>
              <a:t>Scientific Reports</a:t>
            </a:r>
            <a:r>
              <a:rPr lang="en-GB" sz="2200" dirty="0">
                <a:latin typeface="Times New Roman" panose="02020603050405020304" pitchFamily="18" charset="0"/>
                <a:cs typeface="Times New Roman" panose="02020603050405020304" pitchFamily="18" charset="0"/>
              </a:rPr>
              <a:t>, 2025.</a:t>
            </a:r>
            <a:endParaRPr lang="en-GB" altLang="en-US" sz="2200" dirty="0">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kumimoji="0" lang="en-GB"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t>
            </a:r>
            <a:r>
              <a:rPr lang="en-GB" sz="2200" dirty="0">
                <a:latin typeface="Times New Roman" panose="02020603050405020304" pitchFamily="18" charset="0"/>
                <a:cs typeface="Times New Roman" panose="02020603050405020304" pitchFamily="18" charset="0"/>
              </a:rPr>
              <a:t>Introducing Representations of Facial Affect in Automated Multimodal Deception Detection. </a:t>
            </a:r>
            <a:r>
              <a:rPr lang="en-GB" sz="2200" dirty="0" err="1">
                <a:latin typeface="Times New Roman" panose="02020603050405020304" pitchFamily="18" charset="0"/>
                <a:cs typeface="Times New Roman" panose="02020603050405020304" pitchFamily="18" charset="0"/>
              </a:rPr>
              <a:t>arXiv</a:t>
            </a:r>
            <a:r>
              <a:rPr lang="en-GB" sz="2200" dirty="0">
                <a:latin typeface="Times New Roman" panose="02020603050405020304" pitchFamily="18" charset="0"/>
                <a:cs typeface="Times New Roman" panose="02020603050405020304" pitchFamily="18" charset="0"/>
              </a:rPr>
              <a:t>, 2020</a:t>
            </a:r>
            <a:endParaRPr kumimoji="0" lang="en-GB"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algn="just" eaLnBrk="0" fontAlgn="base" hangingPunct="0">
              <a:lnSpc>
                <a:spcPct val="100000"/>
              </a:lnSpc>
              <a:spcBef>
                <a:spcPct val="0"/>
              </a:spcBef>
              <a:spcAft>
                <a:spcPct val="0"/>
              </a:spcAft>
              <a:buNone/>
            </a:pPr>
            <a:r>
              <a:rPr lang="en-GB" altLang="en-US" sz="2200" dirty="0">
                <a:latin typeface="Times New Roman" panose="02020603050405020304" pitchFamily="18" charset="0"/>
                <a:cs typeface="Times New Roman" panose="02020603050405020304" pitchFamily="18" charset="0"/>
              </a:rPr>
              <a:t>[6] </a:t>
            </a:r>
            <a:r>
              <a:rPr lang="en-GB" sz="2200" dirty="0">
                <a:latin typeface="Times New Roman" panose="02020603050405020304" pitchFamily="18" charset="0"/>
                <a:cs typeface="Times New Roman" panose="02020603050405020304" pitchFamily="18" charset="0"/>
              </a:rPr>
              <a:t>Towards AI-Driven Policing: Knowledge Discovery from Police Body-Worn Camera Footage. </a:t>
            </a:r>
            <a:r>
              <a:rPr lang="en-GB" sz="2200" dirty="0" err="1">
                <a:latin typeface="Times New Roman" panose="02020603050405020304" pitchFamily="18" charset="0"/>
                <a:cs typeface="Times New Roman" panose="02020603050405020304" pitchFamily="18" charset="0"/>
              </a:rPr>
              <a:t>arXiv</a:t>
            </a:r>
            <a:r>
              <a:rPr lang="en-GB" sz="2200" dirty="0">
                <a:latin typeface="Times New Roman" panose="02020603050405020304" pitchFamily="18" charset="0"/>
                <a:cs typeface="Times New Roman" panose="02020603050405020304" pitchFamily="18" charset="0"/>
              </a:rPr>
              <a:t>, 2025.</a:t>
            </a:r>
          </a:p>
          <a:p>
            <a:pPr marL="0" indent="0" algn="just" eaLnBrk="0" fontAlgn="base" hangingPunct="0">
              <a:lnSpc>
                <a:spcPct val="100000"/>
              </a:lnSpc>
              <a:spcBef>
                <a:spcPct val="0"/>
              </a:spcBef>
              <a:spcAft>
                <a:spcPct val="0"/>
              </a:spcAft>
              <a:buNone/>
            </a:pPr>
            <a:r>
              <a:rPr kumimoji="0" lang="en-GB"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[7] </a:t>
            </a:r>
            <a:r>
              <a:rPr lang="en-GB" sz="2200" dirty="0">
                <a:latin typeface="Times New Roman" panose="02020603050405020304" pitchFamily="18" charset="0"/>
                <a:cs typeface="Times New Roman" panose="02020603050405020304" pitchFamily="18" charset="0"/>
              </a:rPr>
              <a:t>Z. Wu, B. Singh, L. S. Davis, and V. S. </a:t>
            </a:r>
            <a:r>
              <a:rPr lang="en-GB" sz="2200" dirty="0" err="1">
                <a:latin typeface="Times New Roman" panose="02020603050405020304" pitchFamily="18" charset="0"/>
                <a:cs typeface="Times New Roman" panose="02020603050405020304" pitchFamily="18" charset="0"/>
              </a:rPr>
              <a:t>Subrahmanian</a:t>
            </a:r>
            <a:r>
              <a:rPr lang="en-GB" sz="2200" dirty="0">
                <a:latin typeface="Times New Roman" panose="02020603050405020304" pitchFamily="18" charset="0"/>
                <a:cs typeface="Times New Roman" panose="02020603050405020304" pitchFamily="18" charset="0"/>
              </a:rPr>
              <a:t>, "Deception Detection in Videos," in </a:t>
            </a:r>
            <a:r>
              <a:rPr lang="en-GB" sz="2200" i="1" dirty="0">
                <a:latin typeface="Times New Roman" panose="02020603050405020304" pitchFamily="18" charset="0"/>
                <a:cs typeface="Times New Roman" panose="02020603050405020304" pitchFamily="18" charset="0"/>
              </a:rPr>
              <a:t>Proc. AAAI Conf. Artificial Intelligence (AAAI)</a:t>
            </a:r>
            <a:r>
              <a:rPr lang="en-GB" sz="2200" dirty="0">
                <a:latin typeface="Times New Roman" panose="02020603050405020304" pitchFamily="18" charset="0"/>
                <a:cs typeface="Times New Roman" panose="02020603050405020304" pitchFamily="18" charset="0"/>
              </a:rPr>
              <a:t>, New Orleans, LA, USA, 2018, pp. 1695–1702.</a:t>
            </a:r>
            <a:endPar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a:lstStyle/>
          <a:p>
            <a:fld id="{0A7C7B6C-E68D-4047-8A1E-3C7BD2842AF7}" type="datetime1">
              <a:rPr lang="en-IN" smtClean="0"/>
              <a:t>26-07-2026</a:t>
            </a:fld>
            <a:endParaRPr lang="en-IN" dirty="0"/>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a:lstStyle/>
          <a:p>
            <a:fld id="{65201FD4-9D8D-4491-815B-63C7BF4F0034}" type="slidenum">
              <a:rPr lang="en-IN" smtClean="0"/>
              <a:t>12</a:t>
            </a:fld>
            <a:endParaRPr lang="en-IN"/>
          </a:p>
        </p:txBody>
      </p:sp>
    </p:spTree>
    <p:extLst>
      <p:ext uri="{BB962C8B-B14F-4D97-AF65-F5344CB8AC3E}">
        <p14:creationId xmlns:p14="http://schemas.microsoft.com/office/powerpoint/2010/main" val="35105262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2297-BCDE-9AF3-7AF9-6EA674B80380}"/>
              </a:ext>
            </a:extLst>
          </p:cNvPr>
          <p:cNvSpPr>
            <a:spLocks noGrp="1"/>
          </p:cNvSpPr>
          <p:nvPr>
            <p:ph type="title"/>
          </p:nvPr>
        </p:nvSpPr>
        <p:spPr/>
        <p:txBody>
          <a:bodyPr>
            <a:normAutofit/>
          </a:bodyPr>
          <a:lstStyle/>
          <a:p>
            <a:r>
              <a:rPr lang="en-IN" sz="3000" b="1" dirty="0">
                <a:latin typeface="Times New Roman" panose="02020603050405020304" pitchFamily="18" charset="0"/>
                <a:cs typeface="Times New Roman" panose="02020603050405020304" pitchFamily="18" charset="0"/>
              </a:rPr>
              <a:t>References</a:t>
            </a:r>
            <a:endParaRPr lang="en-GB" sz="3000" dirty="0"/>
          </a:p>
        </p:txBody>
      </p:sp>
      <p:sp>
        <p:nvSpPr>
          <p:cNvPr id="3" name="Content Placeholder 2">
            <a:extLst>
              <a:ext uri="{FF2B5EF4-FFF2-40B4-BE49-F238E27FC236}">
                <a16:creationId xmlns:a16="http://schemas.microsoft.com/office/drawing/2014/main" id="{FCEE206E-2E10-D2A0-E1DA-2D1CD695657D}"/>
              </a:ext>
            </a:extLst>
          </p:cNvPr>
          <p:cNvSpPr>
            <a:spLocks noGrp="1"/>
          </p:cNvSpPr>
          <p:nvPr>
            <p:ph idx="1"/>
          </p:nvPr>
        </p:nvSpPr>
        <p:spPr/>
        <p:txBody>
          <a:bodyPr>
            <a:normAutofit fontScale="92500" lnSpcReduction="20000"/>
          </a:bodyPr>
          <a:lstStyle/>
          <a:p>
            <a:pPr algn="just"/>
            <a:r>
              <a:rPr lang="en-GB" sz="2200" dirty="0">
                <a:latin typeface="Times New Roman" panose="02020603050405020304" pitchFamily="18" charset="0"/>
                <a:cs typeface="Times New Roman" panose="02020603050405020304" pitchFamily="18" charset="0"/>
              </a:rPr>
              <a:t>[8] M. M. M. Miah, A. Anika, X. Shi, and R. Huang, "Hidden in Plain Sight: Evaluation of the Deception Detection Capabilities of LLMs in Multimodal Settings," in </a:t>
            </a:r>
            <a:r>
              <a:rPr lang="en-GB" sz="2200" i="1" dirty="0">
                <a:latin typeface="Times New Roman" panose="02020603050405020304" pitchFamily="18" charset="0"/>
                <a:cs typeface="Times New Roman" panose="02020603050405020304" pitchFamily="18" charset="0"/>
              </a:rPr>
              <a:t>Proc. 63rd Annual Meeting of the Association for Computational Linguistics (ACL)</a:t>
            </a:r>
            <a:r>
              <a:rPr lang="en-GB" sz="2200" dirty="0">
                <a:latin typeface="Times New Roman" panose="02020603050405020304" pitchFamily="18" charset="0"/>
                <a:cs typeface="Times New Roman" panose="02020603050405020304" pitchFamily="18" charset="0"/>
              </a:rPr>
              <a:t>, Vienna, Austria, 2025, pp. 31013–31034.</a:t>
            </a:r>
          </a:p>
          <a:p>
            <a:pPr algn="just"/>
            <a:r>
              <a:rPr lang="en-GB" sz="2200" dirty="0">
                <a:latin typeface="Times New Roman" panose="02020603050405020304" pitchFamily="18" charset="0"/>
                <a:cs typeface="Times New Roman" panose="02020603050405020304" pitchFamily="18" charset="0"/>
              </a:rPr>
              <a:t>[9] R. I. A. </a:t>
            </a:r>
            <a:r>
              <a:rPr lang="en-GB" sz="2200" dirty="0" err="1">
                <a:latin typeface="Times New Roman" panose="02020603050405020304" pitchFamily="18" charset="0"/>
                <a:cs typeface="Times New Roman" panose="02020603050405020304" pitchFamily="18" charset="0"/>
              </a:rPr>
              <a:t>Baldivas</a:t>
            </a:r>
            <a:r>
              <a:rPr lang="en-GB" sz="2200" dirty="0">
                <a:latin typeface="Times New Roman" panose="02020603050405020304" pitchFamily="18" charset="0"/>
                <a:cs typeface="Times New Roman" panose="02020603050405020304" pitchFamily="18" charset="0"/>
              </a:rPr>
              <a:t>, N. Sreenivasan, S. Y. Kang, A. M.-L. Miller, M. Chacko, S. Krishnan, C. Ayala, E. Ayala, and D. Kim, "</a:t>
            </a:r>
            <a:r>
              <a:rPr lang="en-GB" sz="2200" dirty="0" err="1">
                <a:latin typeface="Times New Roman" panose="02020603050405020304" pitchFamily="18" charset="0"/>
                <a:cs typeface="Times New Roman" panose="02020603050405020304" pitchFamily="18" charset="0"/>
              </a:rPr>
              <a:t>LegalEye</a:t>
            </a:r>
            <a:r>
              <a:rPr lang="en-GB" sz="2200" dirty="0">
                <a:latin typeface="Times New Roman" panose="02020603050405020304" pitchFamily="18" charset="0"/>
                <a:cs typeface="Times New Roman" panose="02020603050405020304" pitchFamily="18" charset="0"/>
              </a:rPr>
              <a:t>: Multimodal Court Deception Detection Across Multiple Languages," </a:t>
            </a:r>
            <a:r>
              <a:rPr lang="en-GB" sz="2200" i="1" dirty="0" err="1">
                <a:latin typeface="Times New Roman" panose="02020603050405020304" pitchFamily="18" charset="0"/>
                <a:cs typeface="Times New Roman" panose="02020603050405020304" pitchFamily="18" charset="0"/>
              </a:rPr>
              <a:t>Behavioral</a:t>
            </a:r>
            <a:r>
              <a:rPr lang="en-GB" sz="2200" i="1" dirty="0">
                <a:latin typeface="Times New Roman" panose="02020603050405020304" pitchFamily="18" charset="0"/>
                <a:cs typeface="Times New Roman" panose="02020603050405020304" pitchFamily="18" charset="0"/>
              </a:rPr>
              <a:t> Sciences</a:t>
            </a:r>
            <a:r>
              <a:rPr lang="en-GB" sz="2200" dirty="0">
                <a:latin typeface="Times New Roman" panose="02020603050405020304" pitchFamily="18" charset="0"/>
                <a:cs typeface="Times New Roman" panose="02020603050405020304" pitchFamily="18" charset="0"/>
              </a:rPr>
              <a:t>, vol. 15, no. 12, Art. no. 1707, Dec. 2025.</a:t>
            </a:r>
          </a:p>
          <a:p>
            <a:pPr algn="just"/>
            <a:r>
              <a:rPr lang="en-GB" sz="2200" dirty="0">
                <a:latin typeface="Times New Roman" panose="02020603050405020304" pitchFamily="18" charset="0"/>
                <a:cs typeface="Times New Roman" panose="02020603050405020304" pitchFamily="18" charset="0"/>
              </a:rPr>
              <a:t>[10] V. Sharma and S. O'Brien, "</a:t>
            </a:r>
            <a:r>
              <a:rPr lang="en-GB" sz="2200" dirty="0" err="1">
                <a:latin typeface="Times New Roman" panose="02020603050405020304" pitchFamily="18" charset="0"/>
                <a:cs typeface="Times New Roman" panose="02020603050405020304" pitchFamily="18" charset="0"/>
              </a:rPr>
              <a:t>DecepBench</a:t>
            </a:r>
            <a:r>
              <a:rPr lang="en-GB" sz="2200" dirty="0">
                <a:latin typeface="Times New Roman" panose="02020603050405020304" pitchFamily="18" charset="0"/>
                <a:cs typeface="Times New Roman" panose="02020603050405020304" pitchFamily="18" charset="0"/>
              </a:rPr>
              <a:t>: Benchmarking Multimodal Deception Detection," in </a:t>
            </a:r>
            <a:r>
              <a:rPr lang="en-GB" sz="2200" i="1" dirty="0">
                <a:latin typeface="Times New Roman" panose="02020603050405020304" pitchFamily="18" charset="0"/>
                <a:cs typeface="Times New Roman" panose="02020603050405020304" pitchFamily="18" charset="0"/>
              </a:rPr>
              <a:t>Proc. 3rd Workshop on Social Influence in Conversations (</a:t>
            </a:r>
            <a:r>
              <a:rPr lang="en-GB" sz="2200" i="1" dirty="0" err="1">
                <a:latin typeface="Times New Roman" panose="02020603050405020304" pitchFamily="18" charset="0"/>
                <a:cs typeface="Times New Roman" panose="02020603050405020304" pitchFamily="18" charset="0"/>
              </a:rPr>
              <a:t>SICon</a:t>
            </a:r>
            <a:r>
              <a:rPr lang="en-GB" sz="2200" i="1" dirty="0">
                <a:latin typeface="Times New Roman" panose="02020603050405020304" pitchFamily="18" charset="0"/>
                <a:cs typeface="Times New Roman" panose="02020603050405020304" pitchFamily="18" charset="0"/>
              </a:rPr>
              <a:t>), Association for Computational Linguistics</a:t>
            </a:r>
            <a:r>
              <a:rPr lang="en-GB" sz="2200" dirty="0">
                <a:latin typeface="Times New Roman" panose="02020603050405020304" pitchFamily="18" charset="0"/>
                <a:cs typeface="Times New Roman" panose="02020603050405020304" pitchFamily="18" charset="0"/>
              </a:rPr>
              <a:t>, Vienna, Austria, 2025, pp. 50–64.</a:t>
            </a:r>
          </a:p>
          <a:p>
            <a:pPr algn="just"/>
            <a:r>
              <a:rPr lang="en-GB" sz="2200" dirty="0">
                <a:latin typeface="Times New Roman" panose="02020603050405020304" pitchFamily="18" charset="0"/>
                <a:cs typeface="Times New Roman" panose="02020603050405020304" pitchFamily="18" charset="0"/>
              </a:rPr>
              <a:t>[11] </a:t>
            </a:r>
            <a:r>
              <a:rPr lang="en-GB" sz="2400" dirty="0">
                <a:latin typeface="Times New Roman" panose="02020603050405020304" pitchFamily="18" charset="0"/>
                <a:cs typeface="Times New Roman" panose="02020603050405020304" pitchFamily="18" charset="0"/>
              </a:rPr>
              <a:t>S. Poria, D. Hazarika, N. Majumder, G. Naik, E. Cambria, and R. Mihalcea, "MELD: A Multimodal Multi-Party Dataset for Emotion Recognition in Conversations," in </a:t>
            </a:r>
            <a:r>
              <a:rPr lang="en-GB" sz="2400" i="1" dirty="0">
                <a:latin typeface="Times New Roman" panose="02020603050405020304" pitchFamily="18" charset="0"/>
                <a:cs typeface="Times New Roman" panose="02020603050405020304" pitchFamily="18" charset="0"/>
              </a:rPr>
              <a:t>Proc. 57th Annual Meeting of the Association for Computational Linguistics (ACL)</a:t>
            </a:r>
            <a:r>
              <a:rPr lang="en-GB" sz="2400" dirty="0">
                <a:latin typeface="Times New Roman" panose="02020603050405020304" pitchFamily="18" charset="0"/>
                <a:cs typeface="Times New Roman" panose="02020603050405020304" pitchFamily="18" charset="0"/>
              </a:rPr>
              <a:t>, Florence, Italy, 2019, pp. 527–536. </a:t>
            </a:r>
          </a:p>
          <a:p>
            <a:pPr algn="just"/>
            <a:r>
              <a:rPr lang="en-GB" sz="2200" dirty="0">
                <a:latin typeface="Times New Roman" panose="02020603050405020304" pitchFamily="18" charset="0"/>
                <a:cs typeface="Times New Roman" panose="02020603050405020304" pitchFamily="18" charset="0"/>
              </a:rPr>
              <a:t>[12] </a:t>
            </a:r>
            <a:r>
              <a:rPr lang="en-GB" sz="2400" dirty="0">
                <a:latin typeface="Times New Roman" panose="02020603050405020304" pitchFamily="18" charset="0"/>
                <a:cs typeface="Times New Roman" panose="02020603050405020304" pitchFamily="18" charset="0"/>
              </a:rPr>
              <a:t>W. Yu, H. Xu, Z. Yuan, and J. Wu, "Learning Modality-Specific Representations with Self-Supervised Multi-Task Learning for Multimodal Sentiment Analysis," in </a:t>
            </a:r>
            <a:r>
              <a:rPr lang="en-GB" sz="2400" i="1" dirty="0">
                <a:latin typeface="Times New Roman" panose="02020603050405020304" pitchFamily="18" charset="0"/>
                <a:cs typeface="Times New Roman" panose="02020603050405020304" pitchFamily="18" charset="0"/>
              </a:rPr>
              <a:t>Proc. AAAI Conf. Artificial Intelligence (AAAI)</a:t>
            </a:r>
            <a:r>
              <a:rPr lang="en-GB" sz="2400" dirty="0">
                <a:latin typeface="Times New Roman" panose="02020603050405020304" pitchFamily="18" charset="0"/>
                <a:cs typeface="Times New Roman" panose="02020603050405020304" pitchFamily="18" charset="0"/>
              </a:rPr>
              <a:t>, Virtual Conference, 2021, pp. 10790–10797. </a:t>
            </a:r>
            <a:endParaRPr lang="en-GB" sz="22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95DD6D5-BF55-279E-7DC3-30A9826B91AC}"/>
              </a:ext>
            </a:extLst>
          </p:cNvPr>
          <p:cNvSpPr>
            <a:spLocks noGrp="1"/>
          </p:cNvSpPr>
          <p:nvPr>
            <p:ph type="dt" sz="half" idx="10"/>
          </p:nvPr>
        </p:nvSpPr>
        <p:spPr/>
        <p:txBody>
          <a:bodyPr/>
          <a:lstStyle/>
          <a:p>
            <a:fld id="{FEA886FF-1BA7-4533-94E6-869CE1E2970B}" type="datetime1">
              <a:rPr lang="en-IN" smtClean="0"/>
              <a:t>29-07-2026</a:t>
            </a:fld>
            <a:endParaRPr lang="en-IN"/>
          </a:p>
        </p:txBody>
      </p:sp>
      <p:sp>
        <p:nvSpPr>
          <p:cNvPr id="5" name="Footer Placeholder 4">
            <a:extLst>
              <a:ext uri="{FF2B5EF4-FFF2-40B4-BE49-F238E27FC236}">
                <a16:creationId xmlns:a16="http://schemas.microsoft.com/office/drawing/2014/main" id="{FA07F679-8A46-25D6-5810-5B9CD3E5BB43}"/>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DC9EBF3B-C7C1-903D-3200-32D4951D5AC5}"/>
              </a:ext>
            </a:extLst>
          </p:cNvPr>
          <p:cNvSpPr>
            <a:spLocks noGrp="1"/>
          </p:cNvSpPr>
          <p:nvPr>
            <p:ph type="sldNum" sz="quarter" idx="12"/>
          </p:nvPr>
        </p:nvSpPr>
        <p:spPr/>
        <p:txBody>
          <a:bodyPr/>
          <a:lstStyle/>
          <a:p>
            <a:fld id="{65201FD4-9D8D-4491-815B-63C7BF4F0034}" type="slidenum">
              <a:rPr lang="en-IN" smtClean="0"/>
              <a:t>13</a:t>
            </a:fld>
            <a:endParaRPr lang="en-IN"/>
          </a:p>
        </p:txBody>
      </p:sp>
    </p:spTree>
    <p:extLst>
      <p:ext uri="{BB962C8B-B14F-4D97-AF65-F5344CB8AC3E}">
        <p14:creationId xmlns:p14="http://schemas.microsoft.com/office/powerpoint/2010/main" val="8216915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4249</TotalTime>
  <Words>1215</Words>
  <Application>Microsoft Office PowerPoint</Application>
  <PresentationFormat>Widescreen</PresentationFormat>
  <Paragraphs>155</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B.Tech BCSE497J– Project-1 Intelligent Investigative Interview Assistant Using Speech Emotion Analysis, Computer Vision and Large Language Models</vt:lpstr>
      <vt:lpstr>Aim</vt:lpstr>
      <vt:lpstr>Scope</vt:lpstr>
      <vt:lpstr>Abstract</vt:lpstr>
      <vt:lpstr>Abstract</vt:lpstr>
      <vt:lpstr>Literature Review</vt:lpstr>
      <vt:lpstr>Literature Review</vt:lpstr>
      <vt:lpstr>Research Gap</vt:lpstr>
      <vt:lpstr>Proposed Solution</vt:lpstr>
      <vt:lpstr>Objectives</vt:lpstr>
      <vt:lpstr>Objectives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Aniket Vishal Agrawal</cp:lastModifiedBy>
  <cp:revision>25</cp:revision>
  <dcterms:created xsi:type="dcterms:W3CDTF">2026-07-14T06:00:41Z</dcterms:created>
  <dcterms:modified xsi:type="dcterms:W3CDTF">2026-07-29T10:52:18Z</dcterms:modified>
</cp:coreProperties>
</file>