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0"/>
  </p:notesMasterIdLst>
  <p:sldIdLst>
    <p:sldId id="256" r:id="rId2"/>
    <p:sldId id="263" r:id="rId3"/>
    <p:sldId id="257" r:id="rId4"/>
    <p:sldId id="258" r:id="rId5"/>
    <p:sldId id="270" r:id="rId6"/>
    <p:sldId id="272" r:id="rId7"/>
    <p:sldId id="260" r:id="rId8"/>
    <p:sldId id="261" r:id="rId9"/>
    <p:sldId id="264" r:id="rId10"/>
    <p:sldId id="275" r:id="rId11"/>
    <p:sldId id="265" r:id="rId12"/>
    <p:sldId id="266" r:id="rId13"/>
    <p:sldId id="273" r:id="rId14"/>
    <p:sldId id="267" r:id="rId15"/>
    <p:sldId id="274" r:id="rId16"/>
    <p:sldId id="268" r:id="rId17"/>
    <p:sldId id="262"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27-10-2026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18858UG02- Project ID</a:t>
            </a:r>
          </a:p>
        </p:txBody>
      </p:sp>
      <p:sp>
        <p:nvSpPr>
          <p:cNvPr id="4" name="Slide Number Placeholder 3"/>
          <p:cNvSpPr>
            <a:spLocks noGrp="1"/>
          </p:cNvSpPr>
          <p:nvPr>
            <p:ph type="sldNum" sz="quarter" idx="5"/>
          </p:nvPr>
        </p:nvSpPr>
        <p:spPr/>
        <p:txBody>
          <a:bodyPr/>
          <a:lstStyle/>
          <a:p>
            <a:fld id="{A959FDF3-42B5-4A41-B75E-186C389084C2}" type="slidenum">
              <a:rPr lang="en-IN" smtClean="0"/>
              <a:t>2</a:t>
            </a:fld>
            <a:endParaRPr lang="en-IN"/>
          </a:p>
        </p:txBody>
      </p:sp>
    </p:spTree>
    <p:extLst>
      <p:ext uri="{BB962C8B-B14F-4D97-AF65-F5344CB8AC3E}">
        <p14:creationId xmlns:p14="http://schemas.microsoft.com/office/powerpoint/2010/main" val="468996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F18A0-E201-1900-A139-E830DD3EA1D1}"/>
              </a:ext>
            </a:extLst>
          </p:cNvPr>
          <p:cNvSpPr>
            <a:spLocks noGrp="1"/>
          </p:cNvSpPr>
          <p:nvPr>
            <p:ph type="dt" sz="half" idx="10"/>
          </p:nvPr>
        </p:nvSpPr>
        <p:spPr/>
        <p:txBody>
          <a:bodyPr/>
          <a:lstStyle/>
          <a:p>
            <a:fld id="{8F3E78AE-7F97-4550-9DD8-BF69171FDC30}" type="datetime1">
              <a:rPr lang="en-IN" smtClean="0"/>
              <a:t>27-10-2026</a:t>
            </a:fld>
            <a:endParaRPr lang="en-IN"/>
          </a:p>
        </p:txBody>
      </p:sp>
      <p:sp>
        <p:nvSpPr>
          <p:cNvPr id="5" name="Footer Placeholder 4">
            <a:extLst>
              <a:ext uri="{FF2B5EF4-FFF2-40B4-BE49-F238E27FC236}">
                <a16:creationId xmlns:a16="http://schemas.microsoft.com/office/drawing/2014/main"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80259-8D20-E29B-4DC5-312C3DB01BB3}"/>
              </a:ext>
            </a:extLst>
          </p:cNvPr>
          <p:cNvSpPr>
            <a:spLocks noGrp="1"/>
          </p:cNvSpPr>
          <p:nvPr>
            <p:ph type="dt" sz="half" idx="10"/>
          </p:nvPr>
        </p:nvSpPr>
        <p:spPr/>
        <p:txBody>
          <a:bodyPr/>
          <a:lstStyle/>
          <a:p>
            <a:fld id="{FEA886FF-1BA7-4533-94E6-869CE1E2970B}" type="datetime1">
              <a:rPr lang="en-IN" smtClean="0"/>
              <a:t>27-10-2026</a:t>
            </a:fld>
            <a:endParaRPr lang="en-IN"/>
          </a:p>
        </p:txBody>
      </p:sp>
      <p:sp>
        <p:nvSpPr>
          <p:cNvPr id="5" name="Footer Placeholder 4">
            <a:extLst>
              <a:ext uri="{FF2B5EF4-FFF2-40B4-BE49-F238E27FC236}">
                <a16:creationId xmlns:a16="http://schemas.microsoft.com/office/drawing/2014/main"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7CE67-8E8A-4D0D-42DF-DDC842B1B17A}"/>
              </a:ext>
            </a:extLst>
          </p:cNvPr>
          <p:cNvSpPr>
            <a:spLocks noGrp="1"/>
          </p:cNvSpPr>
          <p:nvPr>
            <p:ph type="dt" sz="half" idx="10"/>
          </p:nvPr>
        </p:nvSpPr>
        <p:spPr/>
        <p:txBody>
          <a:bodyPr/>
          <a:lstStyle/>
          <a:p>
            <a:fld id="{93E22BD8-A2C4-424B-809A-C64DDCC305D9}" type="datetime1">
              <a:rPr lang="en-IN" smtClean="0"/>
              <a:t>27-10-2026</a:t>
            </a:fld>
            <a:endParaRPr lang="en-IN"/>
          </a:p>
        </p:txBody>
      </p:sp>
      <p:sp>
        <p:nvSpPr>
          <p:cNvPr id="5" name="Footer Placeholder 4">
            <a:extLst>
              <a:ext uri="{FF2B5EF4-FFF2-40B4-BE49-F238E27FC236}">
                <a16:creationId xmlns:a16="http://schemas.microsoft.com/office/drawing/2014/main"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DA5E84-A1E0-A1C4-F7E6-DA9E7B124C77}"/>
              </a:ext>
            </a:extLst>
          </p:cNvPr>
          <p:cNvSpPr>
            <a:spLocks noGrp="1"/>
          </p:cNvSpPr>
          <p:nvPr>
            <p:ph type="dt" sz="half" idx="10"/>
          </p:nvPr>
        </p:nvSpPr>
        <p:spPr/>
        <p:txBody>
          <a:bodyPr/>
          <a:lstStyle/>
          <a:p>
            <a:fld id="{B620F4BC-B3A4-46AF-9AEC-8478EF1369D5}" type="datetime1">
              <a:rPr lang="en-IN" smtClean="0"/>
              <a:t>27-10-2026</a:t>
            </a:fld>
            <a:endParaRPr lang="en-IN"/>
          </a:p>
        </p:txBody>
      </p:sp>
      <p:sp>
        <p:nvSpPr>
          <p:cNvPr id="6" name="Footer Placeholder 5">
            <a:extLst>
              <a:ext uri="{FF2B5EF4-FFF2-40B4-BE49-F238E27FC236}">
                <a16:creationId xmlns:a16="http://schemas.microsoft.com/office/drawing/2014/main"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D20C02-77C2-CB2A-62F8-60B8C62629ED}"/>
              </a:ext>
            </a:extLst>
          </p:cNvPr>
          <p:cNvSpPr>
            <a:spLocks noGrp="1"/>
          </p:cNvSpPr>
          <p:nvPr>
            <p:ph type="dt" sz="half" idx="10"/>
          </p:nvPr>
        </p:nvSpPr>
        <p:spPr/>
        <p:txBody>
          <a:bodyPr/>
          <a:lstStyle/>
          <a:p>
            <a:fld id="{4C9A2993-B405-4F4D-B968-A01C27211659}" type="datetime1">
              <a:rPr lang="en-IN" smtClean="0"/>
              <a:t>27-10-2026</a:t>
            </a:fld>
            <a:endParaRPr lang="en-IN"/>
          </a:p>
        </p:txBody>
      </p:sp>
      <p:sp>
        <p:nvSpPr>
          <p:cNvPr id="8" name="Footer Placeholder 7">
            <a:extLst>
              <a:ext uri="{FF2B5EF4-FFF2-40B4-BE49-F238E27FC236}">
                <a16:creationId xmlns:a16="http://schemas.microsoft.com/office/drawing/2014/main"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F1AB3B-AFC6-3627-62E6-22313061FA80}"/>
              </a:ext>
            </a:extLst>
          </p:cNvPr>
          <p:cNvSpPr>
            <a:spLocks noGrp="1"/>
          </p:cNvSpPr>
          <p:nvPr>
            <p:ph type="dt" sz="half" idx="10"/>
          </p:nvPr>
        </p:nvSpPr>
        <p:spPr/>
        <p:txBody>
          <a:bodyPr/>
          <a:lstStyle/>
          <a:p>
            <a:fld id="{79378C8C-5FBB-4DD7-A06D-BE263480794B}" type="datetime1">
              <a:rPr lang="en-IN" smtClean="0"/>
              <a:t>27-10-2026</a:t>
            </a:fld>
            <a:endParaRPr lang="en-IN"/>
          </a:p>
        </p:txBody>
      </p:sp>
      <p:sp>
        <p:nvSpPr>
          <p:cNvPr id="4" name="Footer Placeholder 3">
            <a:extLst>
              <a:ext uri="{FF2B5EF4-FFF2-40B4-BE49-F238E27FC236}">
                <a16:creationId xmlns:a16="http://schemas.microsoft.com/office/drawing/2014/main"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F289A-3AD7-C11D-1594-90A35E592B5C}"/>
              </a:ext>
            </a:extLst>
          </p:cNvPr>
          <p:cNvSpPr>
            <a:spLocks noGrp="1"/>
          </p:cNvSpPr>
          <p:nvPr>
            <p:ph type="dt" sz="half" idx="10"/>
          </p:nvPr>
        </p:nvSpPr>
        <p:spPr/>
        <p:txBody>
          <a:bodyPr/>
          <a:lstStyle/>
          <a:p>
            <a:fld id="{31FD2985-06EC-459B-80C8-F6F4362A1C03}" type="datetime1">
              <a:rPr lang="en-IN" smtClean="0"/>
              <a:t>27-10-2026</a:t>
            </a:fld>
            <a:endParaRPr lang="en-IN"/>
          </a:p>
        </p:txBody>
      </p:sp>
      <p:sp>
        <p:nvSpPr>
          <p:cNvPr id="3" name="Footer Placeholder 2">
            <a:extLst>
              <a:ext uri="{FF2B5EF4-FFF2-40B4-BE49-F238E27FC236}">
                <a16:creationId xmlns:a16="http://schemas.microsoft.com/office/drawing/2014/main"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758D6-7AF2-29C5-E0EE-3B7BE155EC20}"/>
              </a:ext>
            </a:extLst>
          </p:cNvPr>
          <p:cNvSpPr>
            <a:spLocks noGrp="1"/>
          </p:cNvSpPr>
          <p:nvPr>
            <p:ph type="dt" sz="half" idx="10"/>
          </p:nvPr>
        </p:nvSpPr>
        <p:spPr/>
        <p:txBody>
          <a:bodyPr/>
          <a:lstStyle/>
          <a:p>
            <a:fld id="{71D7E9DA-13C6-48A4-9305-B592482DE8CE}" type="datetime1">
              <a:rPr lang="en-IN" smtClean="0"/>
              <a:t>27-10-2026</a:t>
            </a:fld>
            <a:endParaRPr lang="en-IN"/>
          </a:p>
        </p:txBody>
      </p:sp>
      <p:sp>
        <p:nvSpPr>
          <p:cNvPr id="6" name="Footer Placeholder 5">
            <a:extLst>
              <a:ext uri="{FF2B5EF4-FFF2-40B4-BE49-F238E27FC236}">
                <a16:creationId xmlns:a16="http://schemas.microsoft.com/office/drawing/2014/main"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7E1CE-C7CA-966D-8661-1E99A7DA2174}"/>
              </a:ext>
            </a:extLst>
          </p:cNvPr>
          <p:cNvSpPr>
            <a:spLocks noGrp="1"/>
          </p:cNvSpPr>
          <p:nvPr>
            <p:ph type="dt" sz="half" idx="10"/>
          </p:nvPr>
        </p:nvSpPr>
        <p:spPr/>
        <p:txBody>
          <a:bodyPr/>
          <a:lstStyle/>
          <a:p>
            <a:fld id="{F45E7C4B-C575-4DCF-9B63-045662930500}" type="datetime1">
              <a:rPr lang="en-IN" smtClean="0"/>
              <a:t>27-10-2026</a:t>
            </a:fld>
            <a:endParaRPr lang="en-IN"/>
          </a:p>
        </p:txBody>
      </p:sp>
      <p:sp>
        <p:nvSpPr>
          <p:cNvPr id="6" name="Footer Placeholder 5">
            <a:extLst>
              <a:ext uri="{FF2B5EF4-FFF2-40B4-BE49-F238E27FC236}">
                <a16:creationId xmlns:a16="http://schemas.microsoft.com/office/drawing/2014/main"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1ADFC6-7CEA-ABEE-94C2-870B1E65737A}"/>
              </a:ext>
            </a:extLst>
          </p:cNvPr>
          <p:cNvSpPr>
            <a:spLocks noGrp="1"/>
          </p:cNvSpPr>
          <p:nvPr>
            <p:ph type="dt" sz="half" idx="10"/>
          </p:nvPr>
        </p:nvSpPr>
        <p:spPr/>
        <p:txBody>
          <a:bodyPr/>
          <a:lstStyle/>
          <a:p>
            <a:fld id="{5576931C-EA1A-43DD-B3B3-66F5BA587712}" type="datetime1">
              <a:rPr lang="en-IN" smtClean="0"/>
              <a:t>27-10-2026</a:t>
            </a:fld>
            <a:endParaRPr lang="en-IN"/>
          </a:p>
        </p:txBody>
      </p:sp>
      <p:sp>
        <p:nvSpPr>
          <p:cNvPr id="5" name="Footer Placeholder 4">
            <a:extLst>
              <a:ext uri="{FF2B5EF4-FFF2-40B4-BE49-F238E27FC236}">
                <a16:creationId xmlns:a16="http://schemas.microsoft.com/office/drawing/2014/main"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1D2109-32D1-4A0F-F903-5142A204EF48}"/>
              </a:ext>
            </a:extLst>
          </p:cNvPr>
          <p:cNvSpPr>
            <a:spLocks noGrp="1"/>
          </p:cNvSpPr>
          <p:nvPr>
            <p:ph type="dt" sz="half" idx="10"/>
          </p:nvPr>
        </p:nvSpPr>
        <p:spPr/>
        <p:txBody>
          <a:bodyPr/>
          <a:lstStyle/>
          <a:p>
            <a:fld id="{82C9B0E1-7C95-4C20-B9C6-BA51F388E878}" type="datetime1">
              <a:rPr lang="en-IN" smtClean="0"/>
              <a:t>27-10-2026</a:t>
            </a:fld>
            <a:endParaRPr lang="en-IN"/>
          </a:p>
        </p:txBody>
      </p:sp>
      <p:sp>
        <p:nvSpPr>
          <p:cNvPr id="5" name="Footer Placeholder 4">
            <a:extLst>
              <a:ext uri="{FF2B5EF4-FFF2-40B4-BE49-F238E27FC236}">
                <a16:creationId xmlns:a16="http://schemas.microsoft.com/office/drawing/2014/main"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27-10-2026</a:t>
            </a:fld>
            <a:endParaRPr lang="en-IN"/>
          </a:p>
        </p:txBody>
      </p:sp>
      <p:sp>
        <p:nvSpPr>
          <p:cNvPr id="5" name="Footer Placeholder 4">
            <a:extLst>
              <a:ext uri="{FF2B5EF4-FFF2-40B4-BE49-F238E27FC236}">
                <a16:creationId xmlns:a16="http://schemas.microsoft.com/office/drawing/2014/main"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9E27CD-EF84-CB3A-3D07-A3152356892A}"/>
              </a:ext>
            </a:extLst>
          </p:cNvPr>
          <p:cNvPicPr>
            <a:picLocks noChangeAspect="1"/>
          </p:cNvPicPr>
          <p:nvPr/>
        </p:nvPicPr>
        <p:blipFill>
          <a:blip r:embed="rId2"/>
          <a:stretch>
            <a:fillRect/>
          </a:stretch>
        </p:blipFill>
        <p:spPr>
          <a:xfrm>
            <a:off x="3837236" y="-11493"/>
            <a:ext cx="4517528" cy="1871634"/>
          </a:xfrm>
          <a:prstGeom prst="rect">
            <a:avLst/>
          </a:prstGeom>
        </p:spPr>
      </p:pic>
      <p:sp>
        <p:nvSpPr>
          <p:cNvPr id="7" name="Title 6">
            <a:extLst>
              <a:ext uri="{FF2B5EF4-FFF2-40B4-BE49-F238E27FC236}">
                <a16:creationId xmlns:a16="http://schemas.microsoft.com/office/drawing/2014/main" id="{8BAD67C4-20B4-E1F6-A7E7-C8C33181D0C9}"/>
              </a:ext>
            </a:extLst>
          </p:cNvPr>
          <p:cNvSpPr txBox="1">
            <a:spLocks noGrp="1"/>
          </p:cNvSpPr>
          <p:nvPr>
            <p:ph type="ctrTitle"/>
          </p:nvPr>
        </p:nvSpPr>
        <p:spPr>
          <a:xfrm>
            <a:off x="1868130" y="1398745"/>
            <a:ext cx="8924544" cy="1809726"/>
          </a:xfrm>
          <a:prstGeom prst="rect">
            <a:avLst/>
          </a:prstGeom>
          <a:noFill/>
        </p:spPr>
        <p:txBody>
          <a:bodyPr wrap="square" rtlCol="0">
            <a:spAutoFit/>
          </a:bodyPr>
          <a:lstStyle/>
          <a:p>
            <a:r>
              <a:rPr lang="en-IN" sz="1800" b="1" dirty="0" err="1">
                <a:latin typeface="Times New Roman" panose="02020603050405020304" pitchFamily="18" charset="0"/>
                <a:cs typeface="Times New Roman" panose="02020603050405020304" pitchFamily="18" charset="0"/>
              </a:rPr>
              <a:t>B.Tech</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BCSE497J– Project-1</a:t>
            </a:r>
            <a:br>
              <a:rPr lang="en-IN" sz="32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Intelligent Investigative Interview Assistant Using Speech Emotion Analysis, Computer Vision and Large Language Models</a:t>
            </a:r>
          </a:p>
        </p:txBody>
      </p:sp>
      <p:sp>
        <p:nvSpPr>
          <p:cNvPr id="9" name="object 3">
            <a:extLst>
              <a:ext uri="{FF2B5EF4-FFF2-40B4-BE49-F238E27FC236}">
                <a16:creationId xmlns:a16="http://schemas.microsoft.com/office/drawing/2014/main" id="{68BC382C-506F-4908-6AC3-C0AA73064F47}"/>
              </a:ext>
            </a:extLst>
          </p:cNvPr>
          <p:cNvSpPr txBox="1"/>
          <p:nvPr/>
        </p:nvSpPr>
        <p:spPr>
          <a:xfrm>
            <a:off x="2609088" y="3228135"/>
            <a:ext cx="7071360" cy="2734082"/>
          </a:xfrm>
          <a:prstGeom prst="rect">
            <a:avLst/>
          </a:prstGeom>
        </p:spPr>
        <p:txBody>
          <a:bodyPr vert="horz" wrap="square" lIns="0" tIns="12700" rIns="0" bIns="0" rtlCol="0">
            <a:spAutoFit/>
          </a:bodyPr>
          <a:lstStyle/>
          <a:p>
            <a:pPr>
              <a:lnSpc>
                <a:spcPct val="100000"/>
              </a:lnSpc>
              <a:spcBef>
                <a:spcPts val="200"/>
              </a:spcBef>
            </a:pPr>
            <a:endParaRPr sz="1800" dirty="0">
              <a:latin typeface="Times New Roman"/>
              <a:cs typeface="Times New Roman"/>
            </a:endParaRPr>
          </a:p>
          <a:p>
            <a:pPr marL="12700">
              <a:lnSpc>
                <a:spcPct val="100000"/>
              </a:lnSpc>
            </a:pPr>
            <a:r>
              <a:rPr sz="2000" spc="-20" dirty="0">
                <a:latin typeface="Times New Roman"/>
                <a:cs typeface="Times New Roman"/>
              </a:rPr>
              <a:t>Team</a:t>
            </a:r>
            <a:r>
              <a:rPr sz="2000" spc="-80" dirty="0">
                <a:latin typeface="Times New Roman"/>
                <a:cs typeface="Times New Roman"/>
              </a:rPr>
              <a:t> </a:t>
            </a:r>
            <a:r>
              <a:rPr sz="2000" spc="-10" dirty="0">
                <a:latin typeface="Times New Roman"/>
                <a:cs typeface="Times New Roman"/>
              </a:rPr>
              <a:t>members:</a:t>
            </a:r>
            <a:endParaRPr sz="2000" dirty="0">
              <a:latin typeface="Times New Roman"/>
              <a:cs typeface="Times New Roman"/>
            </a:endParaRPr>
          </a:p>
          <a:p>
            <a:pPr marL="149225" indent="-136525">
              <a:lnSpc>
                <a:spcPct val="100000"/>
              </a:lnSpc>
              <a:spcBef>
                <a:spcPts val="20"/>
              </a:spcBef>
              <a:buFont typeface="Times New Roman"/>
              <a:buChar char="•"/>
              <a:tabLst>
                <a:tab pos="149225" algn="l"/>
              </a:tabLst>
            </a:pPr>
            <a:r>
              <a:rPr lang="en-IN" sz="2000" b="1" dirty="0">
                <a:latin typeface="Times New Roman"/>
                <a:cs typeface="Times New Roman"/>
              </a:rPr>
              <a:t>Ajmal </a:t>
            </a:r>
            <a:r>
              <a:rPr lang="en-IN" sz="2000" b="1" dirty="0" err="1">
                <a:latin typeface="Times New Roman"/>
                <a:cs typeface="Times New Roman"/>
              </a:rPr>
              <a:t>Sadhiq</a:t>
            </a:r>
            <a:r>
              <a:rPr lang="en-IN" sz="2000" b="1" dirty="0">
                <a:latin typeface="Times New Roman"/>
                <a:cs typeface="Times New Roman"/>
              </a:rPr>
              <a:t> 		  (23BCE2201)</a:t>
            </a:r>
          </a:p>
          <a:p>
            <a:pPr marL="149225" indent="-136525">
              <a:lnSpc>
                <a:spcPct val="100000"/>
              </a:lnSpc>
              <a:spcBef>
                <a:spcPts val="20"/>
              </a:spcBef>
              <a:buFont typeface="Times New Roman"/>
              <a:buChar char="•"/>
              <a:tabLst>
                <a:tab pos="149225" algn="l"/>
              </a:tabLst>
            </a:pPr>
            <a:r>
              <a:rPr lang="en-IN" sz="2000" b="1" dirty="0">
                <a:latin typeface="Times New Roman"/>
                <a:cs typeface="Times New Roman"/>
              </a:rPr>
              <a:t>Garvit Kohli		  (23BCE2216)</a:t>
            </a:r>
          </a:p>
          <a:p>
            <a:pPr marL="149225" indent="-136525">
              <a:lnSpc>
                <a:spcPct val="100000"/>
              </a:lnSpc>
              <a:spcBef>
                <a:spcPts val="20"/>
              </a:spcBef>
              <a:buFont typeface="Times New Roman"/>
              <a:buChar char="•"/>
              <a:tabLst>
                <a:tab pos="149225" algn="l"/>
              </a:tabLst>
            </a:pPr>
            <a:r>
              <a:rPr lang="en-IN" sz="2000" b="1" dirty="0">
                <a:latin typeface="Times New Roman"/>
                <a:cs typeface="Times New Roman"/>
              </a:rPr>
              <a:t>Aniket Agrawal	  (23BCE2221)</a:t>
            </a:r>
          </a:p>
          <a:p>
            <a:pPr marL="149225" indent="-136525">
              <a:lnSpc>
                <a:spcPct val="100000"/>
              </a:lnSpc>
              <a:spcBef>
                <a:spcPts val="20"/>
              </a:spcBef>
              <a:buFont typeface="Times New Roman"/>
              <a:buChar char="•"/>
              <a:tabLst>
                <a:tab pos="149225" algn="l"/>
              </a:tabLst>
            </a:pPr>
            <a:endParaRPr lang="en-IN" sz="2000" b="1" dirty="0">
              <a:latin typeface="Times New Roman"/>
              <a:cs typeface="Times New Roman"/>
            </a:endParaRPr>
          </a:p>
          <a:p>
            <a:pPr marL="12700">
              <a:lnSpc>
                <a:spcPct val="100000"/>
              </a:lnSpc>
              <a:spcBef>
                <a:spcPts val="100"/>
              </a:spcBef>
            </a:pPr>
            <a:r>
              <a:rPr lang="en-US" sz="2000" dirty="0">
                <a:latin typeface="Times New Roman"/>
                <a:cs typeface="Times New Roman"/>
              </a:rPr>
              <a:t>Faculty</a:t>
            </a:r>
            <a:r>
              <a:rPr lang="en-US" sz="2000" spc="-60" dirty="0">
                <a:latin typeface="Times New Roman"/>
                <a:cs typeface="Times New Roman"/>
              </a:rPr>
              <a:t> </a:t>
            </a:r>
            <a:r>
              <a:rPr lang="en-US" sz="2000" dirty="0">
                <a:latin typeface="Times New Roman"/>
                <a:cs typeface="Times New Roman"/>
              </a:rPr>
              <a:t>guide</a:t>
            </a:r>
            <a:r>
              <a:rPr lang="en-US" sz="2000" spc="-55" dirty="0">
                <a:latin typeface="Times New Roman"/>
                <a:cs typeface="Times New Roman"/>
              </a:rPr>
              <a:t> </a:t>
            </a:r>
            <a:r>
              <a:rPr lang="en-US" sz="2000" spc="-50" dirty="0">
                <a:latin typeface="Times New Roman"/>
                <a:cs typeface="Times New Roman"/>
              </a:rPr>
              <a:t>:</a:t>
            </a:r>
            <a:endParaRPr lang="en-US" sz="2000" dirty="0">
              <a:latin typeface="Times New Roman"/>
              <a:cs typeface="Times New Roman"/>
            </a:endParaRPr>
          </a:p>
          <a:p>
            <a:pPr marL="12700">
              <a:lnSpc>
                <a:spcPct val="100000"/>
              </a:lnSpc>
              <a:spcBef>
                <a:spcPts val="20"/>
              </a:spcBef>
            </a:pPr>
            <a:r>
              <a:rPr lang="en-US" sz="2000" b="1" dirty="0" err="1">
                <a:latin typeface="Times New Roman"/>
                <a:cs typeface="Times New Roman"/>
              </a:rPr>
              <a:t>Dr.Sivaprakash</a:t>
            </a:r>
            <a:r>
              <a:rPr lang="en-US" sz="2000" b="1" dirty="0">
                <a:latin typeface="Times New Roman"/>
                <a:cs typeface="Times New Roman"/>
              </a:rPr>
              <a:t> S</a:t>
            </a:r>
            <a:endParaRPr lang="en-US" sz="2000" dirty="0">
              <a:latin typeface="Times New Roman"/>
              <a:cs typeface="Times New Roman"/>
            </a:endParaRPr>
          </a:p>
          <a:p>
            <a:pPr marL="149225" indent="-136525">
              <a:lnSpc>
                <a:spcPct val="100000"/>
              </a:lnSpc>
              <a:spcBef>
                <a:spcPts val="20"/>
              </a:spcBef>
              <a:buFont typeface="Times New Roman"/>
              <a:buChar char="•"/>
              <a:tabLst>
                <a:tab pos="149225" algn="l"/>
              </a:tabLst>
            </a:pPr>
            <a:endParaRPr sz="1800" dirty="0">
              <a:latin typeface="Times New Roman"/>
              <a:cs typeface="Times New Roman"/>
            </a:endParaRPr>
          </a:p>
        </p:txBody>
      </p:sp>
    </p:spTree>
    <p:extLst>
      <p:ext uri="{BB962C8B-B14F-4D97-AF65-F5344CB8AC3E}">
        <p14:creationId xmlns:p14="http://schemas.microsoft.com/office/powerpoint/2010/main" val="424303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CBE13-A9D6-9564-DA47-597E38E09F70}"/>
              </a:ext>
            </a:extLst>
          </p:cNvPr>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Approval Mail From Guide</a:t>
            </a:r>
          </a:p>
        </p:txBody>
      </p:sp>
      <p:sp>
        <p:nvSpPr>
          <p:cNvPr id="3" name="Content Placeholder 2">
            <a:extLst>
              <a:ext uri="{FF2B5EF4-FFF2-40B4-BE49-F238E27FC236}">
                <a16:creationId xmlns:a16="http://schemas.microsoft.com/office/drawing/2014/main" id="{8233367C-DAD6-6E34-D21A-A981C09442F2}"/>
              </a:ext>
            </a:extLst>
          </p:cNvPr>
          <p:cNvSpPr>
            <a:spLocks noGrp="1"/>
          </p:cNvSpPr>
          <p:nvPr>
            <p:ph idx="1"/>
          </p:nvPr>
        </p:nvSpPr>
        <p:spPr/>
        <p:txBody>
          <a:bodyPr/>
          <a:lstStyle/>
          <a:p>
            <a:r>
              <a:rPr lang="en-IN" i="1" dirty="0">
                <a:highlight>
                  <a:srgbClr val="FFFF00"/>
                </a:highlight>
              </a:rPr>
              <a:t>Get the approval for the following points from your guide through mail before  01-09-2026.(sample attached below)</a:t>
            </a:r>
          </a:p>
        </p:txBody>
      </p:sp>
      <p:sp>
        <p:nvSpPr>
          <p:cNvPr id="4" name="Date Placeholder 3">
            <a:extLst>
              <a:ext uri="{FF2B5EF4-FFF2-40B4-BE49-F238E27FC236}">
                <a16:creationId xmlns:a16="http://schemas.microsoft.com/office/drawing/2014/main" id="{C7827C50-3ED3-2DB6-C227-6784C6CA9E30}"/>
              </a:ext>
            </a:extLst>
          </p:cNvPr>
          <p:cNvSpPr>
            <a:spLocks noGrp="1"/>
          </p:cNvSpPr>
          <p:nvPr>
            <p:ph type="dt" sz="half" idx="10"/>
          </p:nvPr>
        </p:nvSpPr>
        <p:spPr/>
        <p:txBody>
          <a:bodyPr/>
          <a:lstStyle/>
          <a:p>
            <a:fld id="{FEA886FF-1BA7-4533-94E6-869CE1E2970B}" type="datetime1">
              <a:rPr lang="en-IN" smtClean="0"/>
              <a:t>27-10-2026</a:t>
            </a:fld>
            <a:endParaRPr lang="en-IN" dirty="0"/>
          </a:p>
        </p:txBody>
      </p:sp>
      <p:sp>
        <p:nvSpPr>
          <p:cNvPr id="5" name="Footer Placeholder 4">
            <a:extLst>
              <a:ext uri="{FF2B5EF4-FFF2-40B4-BE49-F238E27FC236}">
                <a16:creationId xmlns:a16="http://schemas.microsoft.com/office/drawing/2014/main" id="{56664170-792F-28F8-1C31-5F7A8D69F97E}"/>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E16528B-72DB-0275-6A94-33ABB5CD7075}"/>
              </a:ext>
            </a:extLst>
          </p:cNvPr>
          <p:cNvSpPr>
            <a:spLocks noGrp="1"/>
          </p:cNvSpPr>
          <p:nvPr>
            <p:ph type="sldNum" sz="quarter" idx="12"/>
          </p:nvPr>
        </p:nvSpPr>
        <p:spPr/>
        <p:txBody>
          <a:bodyPr/>
          <a:lstStyle/>
          <a:p>
            <a:fld id="{65201FD4-9D8D-4491-815B-63C7BF4F0034}" type="slidenum">
              <a:rPr lang="en-IN" smtClean="0"/>
              <a:t>2</a:t>
            </a:fld>
            <a:endParaRPr lang="en-IN"/>
          </a:p>
        </p:txBody>
      </p:sp>
      <p:pic>
        <p:nvPicPr>
          <p:cNvPr id="8" name="Picture 7">
            <a:extLst>
              <a:ext uri="{FF2B5EF4-FFF2-40B4-BE49-F238E27FC236}">
                <a16:creationId xmlns:a16="http://schemas.microsoft.com/office/drawing/2014/main" id="{DE2CE33A-59B5-73AA-1F9A-2E40249815A5}"/>
              </a:ext>
            </a:extLst>
          </p:cNvPr>
          <p:cNvPicPr>
            <a:picLocks noChangeAspect="1"/>
          </p:cNvPicPr>
          <p:nvPr/>
        </p:nvPicPr>
        <p:blipFill>
          <a:blip r:embed="rId3"/>
          <a:stretch>
            <a:fillRect/>
          </a:stretch>
        </p:blipFill>
        <p:spPr>
          <a:xfrm>
            <a:off x="658659" y="1400305"/>
            <a:ext cx="10874682" cy="4077053"/>
          </a:xfrm>
          <a:prstGeom prst="rect">
            <a:avLst/>
          </a:prstGeom>
        </p:spPr>
      </p:pic>
    </p:spTree>
    <p:extLst>
      <p:ext uri="{BB962C8B-B14F-4D97-AF65-F5344CB8AC3E}">
        <p14:creationId xmlns:p14="http://schemas.microsoft.com/office/powerpoint/2010/main" val="1256560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8A428-04DA-E6A8-7606-5D2FE5F31C52}"/>
              </a:ext>
            </a:extLst>
          </p:cNvPr>
          <p:cNvSpPr>
            <a:spLocks noGrp="1"/>
          </p:cNvSpPr>
          <p:nvPr>
            <p:ph idx="1"/>
          </p:nvPr>
        </p:nvSpPr>
        <p:spPr/>
        <p:txBody>
          <a:bodyPr>
            <a:normAutofit/>
          </a:bodyPr>
          <a:lstStyle/>
          <a:p>
            <a:pPr algn="just"/>
            <a:r>
              <a:rPr lang="en-IN" dirty="0">
                <a:latin typeface="Times New Roman" panose="02020603050405020304" pitchFamily="18" charset="0"/>
                <a:cs typeface="Times New Roman" panose="02020603050405020304" pitchFamily="18" charset="0"/>
              </a:rPr>
              <a:t>To develop an AI-assisted investigative interview system that supports law enforcement officers by analysing facial expressions, speech characteristics, and conversational responses in real-time to provide behavioural insights, adaptive questioning, and interview summaries without replacing human decision-making.</a:t>
            </a:r>
          </a:p>
          <a:p>
            <a:pPr marL="0" indent="0">
              <a:buNone/>
            </a:pP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027305EA-516C-11F8-8A54-2BA046094ABC}"/>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spc="-25" dirty="0">
                <a:latin typeface="Times New Roman" panose="02020603050405020304" pitchFamily="18" charset="0"/>
                <a:cs typeface="Times New Roman" panose="02020603050405020304" pitchFamily="18" charset="0"/>
              </a:rPr>
              <a:t>Aim</a:t>
            </a:r>
            <a:endParaRPr sz="30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779E6AA7-AE20-8A91-BA42-261BF76A2F8B}"/>
              </a:ext>
            </a:extLst>
          </p:cNvPr>
          <p:cNvSpPr>
            <a:spLocks noGrp="1"/>
          </p:cNvSpPr>
          <p:nvPr>
            <p:ph type="dt" sz="half" idx="10"/>
          </p:nvPr>
        </p:nvSpPr>
        <p:spPr/>
        <p:txBody>
          <a:bodyPr/>
          <a:lstStyle/>
          <a:p>
            <a:fld id="{61736562-4E3F-4038-A291-A7AE35CC3E6A}" type="datetime1">
              <a:rPr lang="en-IN" smtClean="0"/>
              <a:t>27-10-2026</a:t>
            </a:fld>
            <a:endParaRPr lang="en-IN"/>
          </a:p>
        </p:txBody>
      </p:sp>
      <p:sp>
        <p:nvSpPr>
          <p:cNvPr id="8" name="Footer Placeholder 7">
            <a:extLst>
              <a:ext uri="{FF2B5EF4-FFF2-40B4-BE49-F238E27FC236}">
                <a16:creationId xmlns:a16="http://schemas.microsoft.com/office/drawing/2014/main" id="{B77FE434-77F0-B8BE-9198-66090332F3F0}"/>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5AD6A9DA-AEE9-F6FE-EFA8-06396314F7E6}"/>
              </a:ext>
            </a:extLst>
          </p:cNvPr>
          <p:cNvSpPr>
            <a:spLocks noGrp="1"/>
          </p:cNvSpPr>
          <p:nvPr>
            <p:ph type="sldNum" sz="quarter" idx="12"/>
          </p:nvPr>
        </p:nvSpPr>
        <p:spPr/>
        <p:txBody>
          <a:bodyPr/>
          <a:lstStyle/>
          <a:p>
            <a:fld id="{65201FD4-9D8D-4491-815B-63C7BF4F0034}" type="slidenum">
              <a:rPr lang="en-IN" smtClean="0"/>
              <a:t>3</a:t>
            </a:fld>
            <a:endParaRPr lang="en-IN"/>
          </a:p>
        </p:txBody>
      </p:sp>
    </p:spTree>
    <p:extLst>
      <p:ext uri="{BB962C8B-B14F-4D97-AF65-F5344CB8AC3E}">
        <p14:creationId xmlns:p14="http://schemas.microsoft.com/office/powerpoint/2010/main" val="2543518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p:txBody>
          <a:bodyPr>
            <a:normAutofit fontScale="92500" lnSpcReduction="10000"/>
          </a:bodyPr>
          <a:lstStyle/>
          <a:p>
            <a:pPr algn="just"/>
            <a:r>
              <a:rPr lang="en-GB" dirty="0">
                <a:latin typeface="Times New Roman" panose="02020603050405020304" pitchFamily="18" charset="0"/>
                <a:cs typeface="Times New Roman" panose="02020603050405020304" pitchFamily="18" charset="0"/>
              </a:rPr>
              <a:t>Traditional investigative interviews depend heavily on an investigator’s experience and observations, which can make behavioural assessments subjective and inconsistent. This project proposes an AI-assisted investigative interview system that combines facial-expression recognition, speech analysis, conversational AI, and adaptive questioning to provide more objective behavioural insights.</a:t>
            </a:r>
          </a:p>
          <a:p>
            <a:pPr algn="just"/>
            <a:r>
              <a:rPr lang="en-GB" dirty="0">
                <a:latin typeface="Times New Roman" panose="02020603050405020304" pitchFamily="18" charset="0"/>
                <a:cs typeface="Times New Roman" panose="02020603050405020304" pitchFamily="18" charset="0"/>
              </a:rPr>
              <a:t>The system analyses facial expressions, vocal characteristics, response time, and conversational context to identify behavioural changes without directly determining deception. It can adapt questioning strategies and generate interview summaries, behavioural timelines, and recommendations. The system serves only as a decision-support tool, while final judgements remain with trained law-enforcement personnel.</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Abstract</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27-10-2026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4</a:t>
            </a:fld>
            <a:endParaRPr lang="en-IN"/>
          </a:p>
        </p:txBody>
      </p:sp>
    </p:spTree>
    <p:extLst>
      <p:ext uri="{BB962C8B-B14F-4D97-AF65-F5344CB8AC3E}">
        <p14:creationId xmlns:p14="http://schemas.microsoft.com/office/powerpoint/2010/main" val="3453097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429C9-899F-746E-1730-A56A719A3B87}"/>
              </a:ext>
            </a:extLst>
          </p:cNvPr>
          <p:cNvSpPr>
            <a:spLocks noGrp="1"/>
          </p:cNvSpPr>
          <p:nvPr>
            <p:ph type="title"/>
          </p:nvPr>
        </p:nvSpPr>
        <p:spPr/>
        <p:txBody>
          <a:bodyPr>
            <a:normAutofit/>
          </a:bodyPr>
          <a:lstStyle/>
          <a:p>
            <a:r>
              <a:rPr lang="en-IN" sz="3000" b="1" spc="-25" dirty="0">
                <a:latin typeface="Times New Roman" panose="02020603050405020304" pitchFamily="18" charset="0"/>
                <a:cs typeface="Times New Roman" panose="02020603050405020304" pitchFamily="18" charset="0"/>
              </a:rPr>
              <a:t>Literature Review</a:t>
            </a:r>
            <a:endParaRPr lang="en-GB" sz="3000" dirty="0"/>
          </a:p>
        </p:txBody>
      </p:sp>
      <p:graphicFrame>
        <p:nvGraphicFramePr>
          <p:cNvPr id="7" name="Content Placeholder 6">
            <a:extLst>
              <a:ext uri="{FF2B5EF4-FFF2-40B4-BE49-F238E27FC236}">
                <a16:creationId xmlns:a16="http://schemas.microsoft.com/office/drawing/2014/main" id="{B668010E-3A70-D2D0-5626-957DF586F21A}"/>
              </a:ext>
            </a:extLst>
          </p:cNvPr>
          <p:cNvGraphicFramePr>
            <a:graphicFrameLocks noGrp="1"/>
          </p:cNvGraphicFramePr>
          <p:nvPr>
            <p:ph idx="1"/>
            <p:extLst>
              <p:ext uri="{D42A27DB-BD31-4B8C-83A1-F6EECF244321}">
                <p14:modId xmlns:p14="http://schemas.microsoft.com/office/powerpoint/2010/main" val="1719703309"/>
              </p:ext>
            </p:extLst>
          </p:nvPr>
        </p:nvGraphicFramePr>
        <p:xfrm>
          <a:off x="838200" y="1825625"/>
          <a:ext cx="10515597" cy="393700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4047041735"/>
                    </a:ext>
                  </a:extLst>
                </a:gridCol>
                <a:gridCol w="3505199">
                  <a:extLst>
                    <a:ext uri="{9D8B030D-6E8A-4147-A177-3AD203B41FA5}">
                      <a16:colId xmlns:a16="http://schemas.microsoft.com/office/drawing/2014/main" val="2573272402"/>
                    </a:ext>
                  </a:extLst>
                </a:gridCol>
                <a:gridCol w="3505199">
                  <a:extLst>
                    <a:ext uri="{9D8B030D-6E8A-4147-A177-3AD203B41FA5}">
                      <a16:colId xmlns:a16="http://schemas.microsoft.com/office/drawing/2014/main" val="1077592746"/>
                    </a:ext>
                  </a:extLst>
                </a:gridCol>
              </a:tblGrid>
              <a:tr h="370840">
                <a:tc>
                  <a:txBody>
                    <a:bodyPr/>
                    <a:lstStyle/>
                    <a:p>
                      <a:pPr algn="just"/>
                      <a:r>
                        <a:rPr lang="en-GB" dirty="0">
                          <a:latin typeface="Times New Roman" panose="02020603050405020304" pitchFamily="18" charset="0"/>
                          <a:cs typeface="Times New Roman" panose="02020603050405020304" pitchFamily="18" charset="0"/>
                        </a:rPr>
                        <a:t>Paper</a:t>
                      </a:r>
                    </a:p>
                  </a:txBody>
                  <a:tcPr/>
                </a:tc>
                <a:tc>
                  <a:txBody>
                    <a:bodyPr/>
                    <a:lstStyle/>
                    <a:p>
                      <a:pPr algn="just"/>
                      <a:r>
                        <a:rPr lang="en-GB" dirty="0">
                          <a:latin typeface="Times New Roman" panose="02020603050405020304" pitchFamily="18" charset="0"/>
                          <a:cs typeface="Times New Roman" panose="02020603050405020304" pitchFamily="18" charset="0"/>
                        </a:rPr>
                        <a:t>Contribution</a:t>
                      </a:r>
                    </a:p>
                  </a:txBody>
                  <a:tcPr/>
                </a:tc>
                <a:tc>
                  <a:txBody>
                    <a:bodyPr/>
                    <a:lstStyle/>
                    <a:p>
                      <a:pPr algn="just"/>
                      <a:r>
                        <a:rPr lang="en-GB" dirty="0">
                          <a:latin typeface="Times New Roman" panose="02020603050405020304" pitchFamily="18" charset="0"/>
                          <a:cs typeface="Times New Roman" panose="02020603050405020304" pitchFamily="18" charset="0"/>
                        </a:rPr>
                        <a:t>Limitation</a:t>
                      </a:r>
                    </a:p>
                  </a:txBody>
                  <a:tcPr/>
                </a:tc>
                <a:extLst>
                  <a:ext uri="{0D108BD9-81ED-4DB2-BD59-A6C34878D82A}">
                    <a16:rowId xmlns:a16="http://schemas.microsoft.com/office/drawing/2014/main" val="1828331660"/>
                  </a:ext>
                </a:extLst>
              </a:tr>
              <a:tr h="370840">
                <a:tc>
                  <a:txBody>
                    <a:bodyPr/>
                    <a:lstStyle/>
                    <a:p>
                      <a:pPr algn="just"/>
                      <a:r>
                        <a:rPr lang="en-GB" dirty="0">
                          <a:latin typeface="Times New Roman" panose="02020603050405020304" pitchFamily="18" charset="0"/>
                          <a:cs typeface="Times New Roman" panose="02020603050405020304" pitchFamily="18" charset="0"/>
                        </a:rPr>
                        <a:t>Intu-AI: Digitalization of Police Interrogation Supported by Artificial Intelligence(2025)</a:t>
                      </a:r>
                    </a:p>
                  </a:txBody>
                  <a:tcPr/>
                </a:tc>
                <a:tc>
                  <a:txBody>
                    <a:bodyPr/>
                    <a:lstStyle/>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AI-assisted police interrogation</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Facial Emotion Recognition</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Speech Emotion Recognition</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Text Emotion Analysis</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Automated documentation</a:t>
                      </a:r>
                    </a:p>
                  </a:txBody>
                  <a:tcPr/>
                </a:tc>
                <a:tc>
                  <a:txBody>
                    <a:bodyPr/>
                    <a:lstStyle/>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Limited adaptive questioning </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No behavioural timeline</a:t>
                      </a:r>
                    </a:p>
                  </a:txBody>
                  <a:tcPr/>
                </a:tc>
                <a:extLst>
                  <a:ext uri="{0D108BD9-81ED-4DB2-BD59-A6C34878D82A}">
                    <a16:rowId xmlns:a16="http://schemas.microsoft.com/office/drawing/2014/main" val="3586770888"/>
                  </a:ext>
                </a:extLst>
              </a:tr>
              <a:tr h="370840">
                <a:tc>
                  <a:txBody>
                    <a:bodyPr/>
                    <a:lstStyle/>
                    <a:p>
                      <a:pPr algn="just"/>
                      <a:r>
                        <a:rPr lang="en-GB" dirty="0">
                          <a:latin typeface="Times New Roman" panose="02020603050405020304" pitchFamily="18" charset="0"/>
                          <a:cs typeface="Times New Roman" panose="02020603050405020304" pitchFamily="18" charset="0"/>
                        </a:rPr>
                        <a:t>Detecting Lies in Investigative Interview Through Response Latencies and Unexpected Questions (Nature,2024)</a:t>
                      </a:r>
                    </a:p>
                  </a:txBody>
                  <a:tcPr/>
                </a:tc>
                <a:tc>
                  <a:txBody>
                    <a:bodyPr/>
                    <a:lstStyle/>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Response latency analysis</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Cognitive load estimation</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Unexpected questioning</a:t>
                      </a:r>
                    </a:p>
                  </a:txBody>
                  <a:tcPr/>
                </a:tc>
                <a:tc>
                  <a:txBody>
                    <a:bodyPr/>
                    <a:lstStyle/>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No multimodal emotion recognition </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No AI conversational assistant</a:t>
                      </a:r>
                    </a:p>
                  </a:txBody>
                  <a:tcPr/>
                </a:tc>
                <a:extLst>
                  <a:ext uri="{0D108BD9-81ED-4DB2-BD59-A6C34878D82A}">
                    <a16:rowId xmlns:a16="http://schemas.microsoft.com/office/drawing/2014/main" val="2188589961"/>
                  </a:ext>
                </a:extLst>
              </a:tr>
              <a:tr h="370840">
                <a:tc>
                  <a:txBody>
                    <a:bodyPr/>
                    <a:lstStyle/>
                    <a:p>
                      <a:pPr algn="just"/>
                      <a:r>
                        <a:rPr lang="en-GB" dirty="0">
                          <a:latin typeface="Times New Roman" panose="02020603050405020304" pitchFamily="18" charset="0"/>
                          <a:cs typeface="Times New Roman" panose="02020603050405020304" pitchFamily="18" charset="0"/>
                        </a:rPr>
                        <a:t>LAPIS: Language Model-Augmented Police Investigation System (2024)</a:t>
                      </a:r>
                    </a:p>
                  </a:txBody>
                  <a:tcPr/>
                </a:tc>
                <a:tc>
                  <a:txBody>
                    <a:bodyPr/>
                    <a:lstStyle/>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LLM-powered police assistant</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Legal reasoning </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Investigation guidance</a:t>
                      </a:r>
                    </a:p>
                  </a:txBody>
                  <a:tcPr/>
                </a:tc>
                <a:tc>
                  <a:txBody>
                    <a:bodyPr/>
                    <a:lstStyle/>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No real-time behavioural analysis</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No facial or speech processing </a:t>
                      </a:r>
                    </a:p>
                  </a:txBody>
                  <a:tcPr/>
                </a:tc>
                <a:extLst>
                  <a:ext uri="{0D108BD9-81ED-4DB2-BD59-A6C34878D82A}">
                    <a16:rowId xmlns:a16="http://schemas.microsoft.com/office/drawing/2014/main" val="2687696414"/>
                  </a:ext>
                </a:extLst>
              </a:tr>
            </a:tbl>
          </a:graphicData>
        </a:graphic>
      </p:graphicFrame>
      <p:sp>
        <p:nvSpPr>
          <p:cNvPr id="4" name="Date Placeholder 3">
            <a:extLst>
              <a:ext uri="{FF2B5EF4-FFF2-40B4-BE49-F238E27FC236}">
                <a16:creationId xmlns:a16="http://schemas.microsoft.com/office/drawing/2014/main" id="{98E6EF21-C4B2-9389-47BC-2AF9EB01D365}"/>
              </a:ext>
            </a:extLst>
          </p:cNvPr>
          <p:cNvSpPr>
            <a:spLocks noGrp="1"/>
          </p:cNvSpPr>
          <p:nvPr>
            <p:ph type="dt" sz="half" idx="10"/>
          </p:nvPr>
        </p:nvSpPr>
        <p:spPr/>
        <p:txBody>
          <a:bodyPr/>
          <a:lstStyle/>
          <a:p>
            <a:fld id="{FEA886FF-1BA7-4533-94E6-869CE1E2970B}" type="datetime1">
              <a:rPr lang="en-IN" smtClean="0"/>
              <a:t>27-10-2026</a:t>
            </a:fld>
            <a:endParaRPr lang="en-IN"/>
          </a:p>
        </p:txBody>
      </p:sp>
      <p:sp>
        <p:nvSpPr>
          <p:cNvPr id="5" name="Footer Placeholder 4">
            <a:extLst>
              <a:ext uri="{FF2B5EF4-FFF2-40B4-BE49-F238E27FC236}">
                <a16:creationId xmlns:a16="http://schemas.microsoft.com/office/drawing/2014/main" id="{A2A327C4-B27D-3DCD-27FF-AAC0599F42D7}"/>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25E9B2B4-96EA-BC04-BBE8-C28FCE28D9AD}"/>
              </a:ext>
            </a:extLst>
          </p:cNvPr>
          <p:cNvSpPr>
            <a:spLocks noGrp="1"/>
          </p:cNvSpPr>
          <p:nvPr>
            <p:ph type="sldNum" sz="quarter" idx="12"/>
          </p:nvPr>
        </p:nvSpPr>
        <p:spPr/>
        <p:txBody>
          <a:bodyPr/>
          <a:lstStyle/>
          <a:p>
            <a:fld id="{65201FD4-9D8D-4491-815B-63C7BF4F0034}" type="slidenum">
              <a:rPr lang="en-IN" smtClean="0"/>
              <a:t>5</a:t>
            </a:fld>
            <a:endParaRPr lang="en-IN"/>
          </a:p>
        </p:txBody>
      </p:sp>
    </p:spTree>
    <p:extLst>
      <p:ext uri="{BB962C8B-B14F-4D97-AF65-F5344CB8AC3E}">
        <p14:creationId xmlns:p14="http://schemas.microsoft.com/office/powerpoint/2010/main" val="1485184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3E1D1-1067-9ABA-09B7-F36A2BAFF2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BAB477-1845-F3CE-EA01-2945462066F0}"/>
              </a:ext>
            </a:extLst>
          </p:cNvPr>
          <p:cNvSpPr>
            <a:spLocks noGrp="1"/>
          </p:cNvSpPr>
          <p:nvPr>
            <p:ph type="title"/>
          </p:nvPr>
        </p:nvSpPr>
        <p:spPr/>
        <p:txBody>
          <a:bodyPr>
            <a:normAutofit/>
          </a:bodyPr>
          <a:lstStyle/>
          <a:p>
            <a:r>
              <a:rPr lang="en-IN" sz="3000" b="1" spc="-25" dirty="0">
                <a:latin typeface="Times New Roman" panose="02020603050405020304" pitchFamily="18" charset="0"/>
                <a:cs typeface="Times New Roman" panose="02020603050405020304" pitchFamily="18" charset="0"/>
              </a:rPr>
              <a:t>Literature Review</a:t>
            </a:r>
            <a:endParaRPr lang="en-GB" sz="3000" dirty="0"/>
          </a:p>
        </p:txBody>
      </p:sp>
      <p:graphicFrame>
        <p:nvGraphicFramePr>
          <p:cNvPr id="7" name="Content Placeholder 6">
            <a:extLst>
              <a:ext uri="{FF2B5EF4-FFF2-40B4-BE49-F238E27FC236}">
                <a16:creationId xmlns:a16="http://schemas.microsoft.com/office/drawing/2014/main" id="{603BBEF5-DDD9-B484-AD8E-CF1CC7C4AAC4}"/>
              </a:ext>
            </a:extLst>
          </p:cNvPr>
          <p:cNvGraphicFramePr>
            <a:graphicFrameLocks noGrp="1"/>
          </p:cNvGraphicFramePr>
          <p:nvPr>
            <p:ph idx="1"/>
            <p:extLst>
              <p:ext uri="{D42A27DB-BD31-4B8C-83A1-F6EECF244321}">
                <p14:modId xmlns:p14="http://schemas.microsoft.com/office/powerpoint/2010/main" val="800274402"/>
              </p:ext>
            </p:extLst>
          </p:nvPr>
        </p:nvGraphicFramePr>
        <p:xfrm>
          <a:off x="838200" y="1825625"/>
          <a:ext cx="10515597" cy="247396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4047041735"/>
                    </a:ext>
                  </a:extLst>
                </a:gridCol>
                <a:gridCol w="3505199">
                  <a:extLst>
                    <a:ext uri="{9D8B030D-6E8A-4147-A177-3AD203B41FA5}">
                      <a16:colId xmlns:a16="http://schemas.microsoft.com/office/drawing/2014/main" val="2573272402"/>
                    </a:ext>
                  </a:extLst>
                </a:gridCol>
                <a:gridCol w="3505199">
                  <a:extLst>
                    <a:ext uri="{9D8B030D-6E8A-4147-A177-3AD203B41FA5}">
                      <a16:colId xmlns:a16="http://schemas.microsoft.com/office/drawing/2014/main" val="1077592746"/>
                    </a:ext>
                  </a:extLst>
                </a:gridCol>
              </a:tblGrid>
              <a:tr h="370840">
                <a:tc>
                  <a:txBody>
                    <a:bodyPr/>
                    <a:lstStyle/>
                    <a:p>
                      <a:pPr algn="just"/>
                      <a:r>
                        <a:rPr lang="en-GB" dirty="0">
                          <a:latin typeface="Times New Roman" panose="02020603050405020304" pitchFamily="18" charset="0"/>
                          <a:cs typeface="Times New Roman" panose="02020603050405020304" pitchFamily="18" charset="0"/>
                        </a:rPr>
                        <a:t>Paper</a:t>
                      </a:r>
                    </a:p>
                  </a:txBody>
                  <a:tcPr/>
                </a:tc>
                <a:tc>
                  <a:txBody>
                    <a:bodyPr/>
                    <a:lstStyle/>
                    <a:p>
                      <a:pPr algn="just"/>
                      <a:r>
                        <a:rPr lang="en-GB" dirty="0">
                          <a:latin typeface="Times New Roman" panose="02020603050405020304" pitchFamily="18" charset="0"/>
                          <a:cs typeface="Times New Roman" panose="02020603050405020304" pitchFamily="18" charset="0"/>
                        </a:rPr>
                        <a:t>Contribution</a:t>
                      </a:r>
                    </a:p>
                  </a:txBody>
                  <a:tcPr/>
                </a:tc>
                <a:tc>
                  <a:txBody>
                    <a:bodyPr/>
                    <a:lstStyle/>
                    <a:p>
                      <a:pPr algn="just"/>
                      <a:r>
                        <a:rPr lang="en-GB" dirty="0">
                          <a:latin typeface="Times New Roman" panose="02020603050405020304" pitchFamily="18" charset="0"/>
                          <a:cs typeface="Times New Roman" panose="02020603050405020304" pitchFamily="18" charset="0"/>
                        </a:rPr>
                        <a:t>Limitation</a:t>
                      </a:r>
                    </a:p>
                  </a:txBody>
                  <a:tcPr/>
                </a:tc>
                <a:extLst>
                  <a:ext uri="{0D108BD9-81ED-4DB2-BD59-A6C34878D82A}">
                    <a16:rowId xmlns:a16="http://schemas.microsoft.com/office/drawing/2014/main" val="1828331660"/>
                  </a:ext>
                </a:extLst>
              </a:tr>
              <a:tr h="370840">
                <a:tc>
                  <a:txBody>
                    <a:bodyPr/>
                    <a:lstStyle/>
                    <a:p>
                      <a:pPr algn="just"/>
                      <a:r>
                        <a:rPr lang="en-GB" dirty="0">
                          <a:latin typeface="Times New Roman" panose="02020603050405020304" pitchFamily="18" charset="0"/>
                          <a:cs typeface="Times New Roman" panose="02020603050405020304" pitchFamily="18" charset="0"/>
                        </a:rPr>
                        <a:t>A Deception Detection Model Using Integrated LLM with Emotion Features (2025)</a:t>
                      </a:r>
                    </a:p>
                  </a:txBody>
                  <a:tcPr/>
                </a:tc>
                <a:tc>
                  <a:txBody>
                    <a:bodyPr/>
                    <a:lstStyle/>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Multimodal emotion fusion</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Behavioural feature extraction</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LLM integration</a:t>
                      </a:r>
                    </a:p>
                  </a:txBody>
                  <a:tcPr/>
                </a:tc>
                <a:tc>
                  <a:txBody>
                    <a:bodyPr/>
                    <a:lstStyle/>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Focuses on classification</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Doesn’t support adaptive interviewing</a:t>
                      </a:r>
                    </a:p>
                  </a:txBody>
                  <a:tcPr/>
                </a:tc>
                <a:extLst>
                  <a:ext uri="{0D108BD9-81ED-4DB2-BD59-A6C34878D82A}">
                    <a16:rowId xmlns:a16="http://schemas.microsoft.com/office/drawing/2014/main" val="3586770888"/>
                  </a:ext>
                </a:extLst>
              </a:tr>
              <a:tr h="370840">
                <a:tc>
                  <a:txBody>
                    <a:bodyPr/>
                    <a:lstStyle/>
                    <a:p>
                      <a:pPr algn="just"/>
                      <a:r>
                        <a:rPr lang="en-GB" dirty="0">
                          <a:latin typeface="Times New Roman" panose="02020603050405020304" pitchFamily="18" charset="0"/>
                          <a:cs typeface="Times New Roman" panose="02020603050405020304" pitchFamily="18" charset="0"/>
                        </a:rPr>
                        <a:t>AI-Driven Policing Using Police Body-Worn Cameras (2025) </a:t>
                      </a:r>
                    </a:p>
                  </a:txBody>
                  <a:tcPr/>
                </a:tc>
                <a:tc>
                  <a:txBody>
                    <a:bodyPr/>
                    <a:lstStyle/>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Behaviour recognition </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Video understanding </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Audio analysis </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Event summarization </a:t>
                      </a:r>
                    </a:p>
                  </a:txBody>
                  <a:tcPr/>
                </a:tc>
                <a:tc>
                  <a:txBody>
                    <a:bodyPr/>
                    <a:lstStyle/>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Focuses on bodycam footage </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Not designed for suspect interviews </a:t>
                      </a:r>
                    </a:p>
                  </a:txBody>
                  <a:tcPr/>
                </a:tc>
                <a:extLst>
                  <a:ext uri="{0D108BD9-81ED-4DB2-BD59-A6C34878D82A}">
                    <a16:rowId xmlns:a16="http://schemas.microsoft.com/office/drawing/2014/main" val="2188589961"/>
                  </a:ext>
                </a:extLst>
              </a:tr>
            </a:tbl>
          </a:graphicData>
        </a:graphic>
      </p:graphicFrame>
      <p:sp>
        <p:nvSpPr>
          <p:cNvPr id="4" name="Date Placeholder 3">
            <a:extLst>
              <a:ext uri="{FF2B5EF4-FFF2-40B4-BE49-F238E27FC236}">
                <a16:creationId xmlns:a16="http://schemas.microsoft.com/office/drawing/2014/main" id="{6B7F2D39-0EF6-41AA-B008-6862C5CE10BF}"/>
              </a:ext>
            </a:extLst>
          </p:cNvPr>
          <p:cNvSpPr>
            <a:spLocks noGrp="1"/>
          </p:cNvSpPr>
          <p:nvPr>
            <p:ph type="dt" sz="half" idx="10"/>
          </p:nvPr>
        </p:nvSpPr>
        <p:spPr/>
        <p:txBody>
          <a:bodyPr/>
          <a:lstStyle/>
          <a:p>
            <a:fld id="{FEA886FF-1BA7-4533-94E6-869CE1E2970B}" type="datetime1">
              <a:rPr lang="en-IN" smtClean="0"/>
              <a:t>27-10-2026</a:t>
            </a:fld>
            <a:endParaRPr lang="en-IN"/>
          </a:p>
        </p:txBody>
      </p:sp>
      <p:sp>
        <p:nvSpPr>
          <p:cNvPr id="5" name="Footer Placeholder 4">
            <a:extLst>
              <a:ext uri="{FF2B5EF4-FFF2-40B4-BE49-F238E27FC236}">
                <a16:creationId xmlns:a16="http://schemas.microsoft.com/office/drawing/2014/main" id="{925D0004-A86C-FC8D-8EDC-CD49FE8DC7C8}"/>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5527974D-D02D-9609-073F-8EC768D1F358}"/>
              </a:ext>
            </a:extLst>
          </p:cNvPr>
          <p:cNvSpPr>
            <a:spLocks noGrp="1"/>
          </p:cNvSpPr>
          <p:nvPr>
            <p:ph type="sldNum" sz="quarter" idx="12"/>
          </p:nvPr>
        </p:nvSpPr>
        <p:spPr/>
        <p:txBody>
          <a:bodyPr/>
          <a:lstStyle/>
          <a:p>
            <a:fld id="{65201FD4-9D8D-4491-815B-63C7BF4F0034}" type="slidenum">
              <a:rPr lang="en-IN" smtClean="0"/>
              <a:t>6</a:t>
            </a:fld>
            <a:endParaRPr lang="en-IN"/>
          </a:p>
        </p:txBody>
      </p:sp>
    </p:spTree>
    <p:extLst>
      <p:ext uri="{BB962C8B-B14F-4D97-AF65-F5344CB8AC3E}">
        <p14:creationId xmlns:p14="http://schemas.microsoft.com/office/powerpoint/2010/main" val="4013662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C5E-26B3-2EE9-895A-F822E4C49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F8AC8-6380-9217-CA4C-1FBF1C25C60E}"/>
              </a:ext>
            </a:extLst>
          </p:cNvPr>
          <p:cNvSpPr>
            <a:spLocks noGrp="1"/>
          </p:cNvSpPr>
          <p:nvPr>
            <p:ph idx="1"/>
          </p:nvPr>
        </p:nvSpPr>
        <p:spPr/>
        <p:txBody>
          <a:bodyPr>
            <a:normAutofit fontScale="85000" lnSpcReduction="20000"/>
          </a:bodyPr>
          <a:lstStyle/>
          <a:p>
            <a:pPr algn="just"/>
            <a:r>
              <a:rPr lang="en-IN" dirty="0">
                <a:latin typeface="Times New Roman" panose="02020603050405020304" pitchFamily="18" charset="0"/>
                <a:cs typeface="Times New Roman" panose="02020603050405020304" pitchFamily="18" charset="0"/>
              </a:rPr>
              <a:t>Current AI systems primarily focus on isolated tasks such as facial emotion recognition, speech analysis, deception classification, or legal reasoning. Existing solutions rarely integrate these capabilities into a unified investigative interview platform.</a:t>
            </a:r>
          </a:p>
          <a:p>
            <a:pPr algn="just"/>
            <a:r>
              <a:rPr lang="en-IN" dirty="0">
                <a:latin typeface="Times New Roman" panose="02020603050405020304" pitchFamily="18" charset="0"/>
                <a:cs typeface="Times New Roman" panose="02020603050405020304" pitchFamily="18" charset="0"/>
              </a:rPr>
              <a:t>Current limitations include:</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Static interview process</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No adaptive questioning strategy</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Limited integration of facial, speech, and textual cues</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Lack of real-time investigator assistance</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No behavioural timeline visualization</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Minimal explainability of AI recommendations</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Heavy dependence on offline analysis rather than live decision support</a:t>
            </a:r>
          </a:p>
          <a:p>
            <a:pPr marL="514350" indent="-514350" algn="just">
              <a:buFont typeface="+mj-lt"/>
              <a:buAutoNum type="arabicPeriod"/>
            </a:pPr>
            <a:endParaRPr lang="en-IN"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2E07AC55-BA5E-4123-39E6-B79860C6C9EE}"/>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Research Gap</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2430A72-466B-CBDE-2F02-635BA91A98AF}"/>
              </a:ext>
            </a:extLst>
          </p:cNvPr>
          <p:cNvSpPr>
            <a:spLocks noGrp="1"/>
          </p:cNvSpPr>
          <p:nvPr>
            <p:ph type="dt" sz="half" idx="10"/>
          </p:nvPr>
        </p:nvSpPr>
        <p:spPr/>
        <p:txBody>
          <a:bodyPr/>
          <a:lstStyle/>
          <a:p>
            <a:fld id="{49AE986A-8308-4C4E-A0F3-DDD9B5B25762}" type="datetime1">
              <a:rPr lang="en-IN" smtClean="0"/>
              <a:t>27-10-2026</a:t>
            </a:fld>
            <a:endParaRPr lang="en-IN"/>
          </a:p>
        </p:txBody>
      </p:sp>
      <p:sp>
        <p:nvSpPr>
          <p:cNvPr id="5" name="Footer Placeholder 4">
            <a:extLst>
              <a:ext uri="{FF2B5EF4-FFF2-40B4-BE49-F238E27FC236}">
                <a16:creationId xmlns:a16="http://schemas.microsoft.com/office/drawing/2014/main"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D94E3226-1DB1-3A4D-CE37-4A2AD48EF1F1}"/>
              </a:ext>
            </a:extLst>
          </p:cNvPr>
          <p:cNvSpPr>
            <a:spLocks noGrp="1"/>
          </p:cNvSpPr>
          <p:nvPr>
            <p:ph type="sldNum" sz="quarter" idx="12"/>
          </p:nvPr>
        </p:nvSpPr>
        <p:spPr/>
        <p:txBody>
          <a:bodyPr/>
          <a:lstStyle/>
          <a:p>
            <a:fld id="{65201FD4-9D8D-4491-815B-63C7BF4F0034}" type="slidenum">
              <a:rPr lang="en-IN" smtClean="0"/>
              <a:t>7</a:t>
            </a:fld>
            <a:endParaRPr lang="en-IN"/>
          </a:p>
        </p:txBody>
      </p:sp>
    </p:spTree>
    <p:extLst>
      <p:ext uri="{BB962C8B-B14F-4D97-AF65-F5344CB8AC3E}">
        <p14:creationId xmlns:p14="http://schemas.microsoft.com/office/powerpoint/2010/main" val="2623102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0AAC-0156-D6F5-7153-C791999940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3ADE1-559A-2DC2-A801-6A915E106C60}"/>
              </a:ext>
            </a:extLst>
          </p:cNvPr>
          <p:cNvSpPr>
            <a:spLocks noGrp="1"/>
          </p:cNvSpPr>
          <p:nvPr>
            <p:ph idx="1"/>
          </p:nvPr>
        </p:nvSpPr>
        <p:spPr/>
        <p:txBody>
          <a:bodyPr>
            <a:normAutofit/>
          </a:bodyPr>
          <a:lstStyle/>
          <a:p>
            <a:pPr algn="just"/>
            <a:r>
              <a:rPr lang="en-IN" dirty="0">
                <a:latin typeface="Times New Roman" panose="02020603050405020304" pitchFamily="18" charset="0"/>
                <a:cs typeface="Times New Roman" panose="02020603050405020304" pitchFamily="18" charset="0"/>
              </a:rPr>
              <a:t>Sustainable Development Goals</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SDG 9 : Industry, Innovation and Infrastructure</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SDG 16: Peace, Justice and Strong Institutions</a:t>
            </a:r>
          </a:p>
          <a:p>
            <a:pPr marL="0" indent="0" algn="just">
              <a:buNone/>
            </a:pPr>
            <a:endParaRPr lang="en-IN"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22BADD22-870A-4D8F-B788-CCCD5C223F9A}"/>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Objectives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1BE4F0EB-E8F1-14D8-E22A-38E83F9BFA9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27-10-2026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6D8B93F-BA73-08B5-E0DD-D434FA25B92B}"/>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E6BABF72-E9F9-626A-63CD-EA20C0714ABC}"/>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8</a:t>
            </a:fld>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2632EBB-2D05-8D00-7F98-43CBAFAF06ED}"/>
              </a:ext>
            </a:extLst>
          </p:cNvPr>
          <p:cNvSpPr txBox="1"/>
          <p:nvPr/>
        </p:nvSpPr>
        <p:spPr>
          <a:xfrm>
            <a:off x="460248" y="4413148"/>
            <a:ext cx="11523407"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Identified:   Sustainable Development Goals	|			| </a:t>
            </a:r>
            <a:r>
              <a:rPr lang="en-GB" sz="1600" dirty="0">
                <a:latin typeface="Times New Roman" panose="02020603050405020304" pitchFamily="18" charset="0"/>
                <a:cs typeface="Times New Roman" panose="02020603050405020304" pitchFamily="18" charset="0"/>
              </a:rPr>
              <a:t>Outcome: Conference(Scopus)</a:t>
            </a:r>
            <a:endParaRPr lang="en-IN" sz="16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8" name="Picture 7" descr="3 The UN 17 Sustainable Development Goals (SDGs), implemented by all... | Download Scientific Diagram">
            <a:extLst>
              <a:ext uri="{FF2B5EF4-FFF2-40B4-BE49-F238E27FC236}">
                <a16:creationId xmlns:a16="http://schemas.microsoft.com/office/drawing/2014/main" id="{36180A9B-AA72-E2D6-8362-4CDF7058D84A}"/>
              </a:ext>
            </a:extLst>
          </p:cNvPr>
          <p:cNvPicPr>
            <a:picLocks noChangeAspect="1"/>
          </p:cNvPicPr>
          <p:nvPr/>
        </p:nvPicPr>
        <p:blipFill>
          <a:blip r:embed="rId2"/>
          <a:stretch>
            <a:fillRect/>
          </a:stretch>
        </p:blipFill>
        <p:spPr>
          <a:xfrm>
            <a:off x="1990701" y="4778273"/>
            <a:ext cx="1968651" cy="1578077"/>
          </a:xfrm>
          <a:prstGeom prst="rect">
            <a:avLst/>
          </a:prstGeom>
        </p:spPr>
      </p:pic>
      <p:pic>
        <p:nvPicPr>
          <p:cNvPr id="9" name="Picture 8" descr="What are Technology Readiness Levels (TRL)? - TWI">
            <a:extLst>
              <a:ext uri="{FF2B5EF4-FFF2-40B4-BE49-F238E27FC236}">
                <a16:creationId xmlns:a16="http://schemas.microsoft.com/office/drawing/2014/main" id="{D1491C9C-07B3-89C3-5FA0-72C9F44F30AC}"/>
              </a:ext>
            </a:extLst>
          </p:cNvPr>
          <p:cNvPicPr>
            <a:picLocks noChangeAspect="1"/>
          </p:cNvPicPr>
          <p:nvPr/>
        </p:nvPicPr>
        <p:blipFill>
          <a:blip r:embed="rId3"/>
          <a:stretch>
            <a:fillRect/>
          </a:stretch>
        </p:blipFill>
        <p:spPr>
          <a:xfrm>
            <a:off x="5237545" y="4413148"/>
            <a:ext cx="2447027" cy="2232651"/>
          </a:xfrm>
          <a:prstGeom prst="rect">
            <a:avLst/>
          </a:prstGeom>
        </p:spPr>
      </p:pic>
    </p:spTree>
    <p:extLst>
      <p:ext uri="{BB962C8B-B14F-4D97-AF65-F5344CB8AC3E}">
        <p14:creationId xmlns:p14="http://schemas.microsoft.com/office/powerpoint/2010/main" val="2335962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49C0F-2490-21B4-8186-6F75540ACED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FBB131-7217-3694-F593-4021591CC64F}"/>
              </a:ext>
            </a:extLst>
          </p:cNvPr>
          <p:cNvSpPr>
            <a:spLocks noGrp="1"/>
          </p:cNvSpPr>
          <p:nvPr>
            <p:ph idx="1"/>
          </p:nvPr>
        </p:nvSpPr>
        <p:spPr/>
        <p:txBody>
          <a:bodyPr>
            <a:normAutofit fontScale="92500" lnSpcReduction="10000"/>
          </a:bodyPr>
          <a:lstStyle/>
          <a:p>
            <a:pPr algn="just"/>
            <a:r>
              <a:rPr lang="en-IN" dirty="0">
                <a:latin typeface="Times New Roman" panose="02020603050405020304" pitchFamily="18" charset="0"/>
                <a:cs typeface="Times New Roman" panose="02020603050405020304" pitchFamily="18" charset="0"/>
              </a:rPr>
              <a:t>Input: webcam, microphone, interview questions and responses, response timestamps, and interview language selection</a:t>
            </a:r>
          </a:p>
          <a:p>
            <a:pPr algn="just"/>
            <a:r>
              <a:rPr lang="en-IN" dirty="0">
                <a:latin typeface="Times New Roman" panose="02020603050405020304" pitchFamily="18" charset="0"/>
                <a:cs typeface="Times New Roman" panose="02020603050405020304" pitchFamily="18" charset="0"/>
              </a:rPr>
              <a:t>Processing: face detection, facial-expression recognition, speech-to-text conversion, language identification, and speech-emotion and vocal-feature analysis</a:t>
            </a:r>
          </a:p>
          <a:p>
            <a:pPr algn="just"/>
            <a:r>
              <a:rPr lang="en-IN" dirty="0">
                <a:latin typeface="Times New Roman" panose="02020603050405020304" pitchFamily="18" charset="0"/>
                <a:cs typeface="Times New Roman" panose="02020603050405020304" pitchFamily="18" charset="0"/>
              </a:rPr>
              <a:t>Multimodal fusion: combines facial, vocal, textual and latency features, establishes an initial behavioural baseline, compares current signals with the baseline, and records the signals contributing to each observation.</a:t>
            </a:r>
          </a:p>
          <a:p>
            <a:pPr algn="just"/>
            <a:r>
              <a:rPr lang="en-IN" dirty="0">
                <a:latin typeface="Times New Roman" panose="02020603050405020304" pitchFamily="18" charset="0"/>
                <a:cs typeface="Times New Roman" panose="02020603050405020304" pitchFamily="18" charset="0"/>
              </a:rPr>
              <a:t>LLM : receives the interview objective and conversation history, reviews transcript and behavioural observations, and generates neutral, non-leading questions and provides reasoning for each question.</a:t>
            </a:r>
          </a:p>
        </p:txBody>
      </p:sp>
      <p:sp>
        <p:nvSpPr>
          <p:cNvPr id="4" name="object 2">
            <a:extLst>
              <a:ext uri="{FF2B5EF4-FFF2-40B4-BE49-F238E27FC236}">
                <a16:creationId xmlns:a16="http://schemas.microsoft.com/office/drawing/2014/main" id="{5DE9EA00-8D77-8DC9-1AE3-8B6FD1AF6BC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Framework/Architecture/Block Diagram</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3B40592E-46EE-B4F2-7D01-D3568C2F685A}"/>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27-10-2026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5BCDC439-5940-84EE-247A-E3018795A43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A6CB23C8-7091-8CFB-BF2C-3A19CCA810FF}"/>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9</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813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94DF9-483E-2BFF-FE7B-37A6EE240C0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054660B-A23B-9967-9526-4C513121A578}"/>
              </a:ext>
            </a:extLst>
          </p:cNvPr>
          <p:cNvSpPr>
            <a:spLocks noGrp="1"/>
          </p:cNvSpPr>
          <p:nvPr>
            <p:ph idx="1"/>
          </p:nvPr>
        </p:nvSpPr>
        <p:spPr/>
        <p:txBody>
          <a:bodyPr/>
          <a:lstStyle/>
          <a:p>
            <a:pPr algn="just"/>
            <a:r>
              <a:rPr lang="en-IN" dirty="0">
                <a:latin typeface="Times New Roman" panose="02020603050405020304" pitchFamily="18" charset="0"/>
                <a:cs typeface="Times New Roman" panose="02020603050405020304" pitchFamily="18" charset="0"/>
              </a:rPr>
              <a:t>Dashboard: real-time transcript, current and suggested questions, facial and speech observations, and separate observed, interpreted, and recommended sections</a:t>
            </a:r>
          </a:p>
          <a:p>
            <a:pPr algn="just"/>
            <a:r>
              <a:rPr lang="en-IN" dirty="0">
                <a:latin typeface="Times New Roman" panose="02020603050405020304" pitchFamily="18" charset="0"/>
                <a:cs typeface="Times New Roman" panose="02020603050405020304" pitchFamily="18" charset="0"/>
              </a:rPr>
              <a:t>Report : stores interview details, transcripts, generated questions, behavioural observations, and investigator notes and recommendations. </a:t>
            </a:r>
            <a:endParaRPr lang="en-GB"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7CB58AF-8FEA-2163-B469-57ED778F603C}"/>
              </a:ext>
            </a:extLst>
          </p:cNvPr>
          <p:cNvSpPr>
            <a:spLocks noGrp="1"/>
          </p:cNvSpPr>
          <p:nvPr>
            <p:ph type="dt" sz="half" idx="10"/>
          </p:nvPr>
        </p:nvSpPr>
        <p:spPr/>
        <p:txBody>
          <a:bodyPr/>
          <a:lstStyle/>
          <a:p>
            <a:fld id="{FEA886FF-1BA7-4533-94E6-869CE1E2970B}" type="datetime1">
              <a:rPr lang="en-IN" smtClean="0"/>
              <a:t>27-10-2026</a:t>
            </a:fld>
            <a:endParaRPr lang="en-IN"/>
          </a:p>
        </p:txBody>
      </p:sp>
      <p:sp>
        <p:nvSpPr>
          <p:cNvPr id="5" name="Footer Placeholder 4">
            <a:extLst>
              <a:ext uri="{FF2B5EF4-FFF2-40B4-BE49-F238E27FC236}">
                <a16:creationId xmlns:a16="http://schemas.microsoft.com/office/drawing/2014/main" id="{DBA44E7E-CABA-B1A9-F67B-DE152ED88AB3}"/>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154658D7-340D-CE01-0B95-0258BC0EBFB2}"/>
              </a:ext>
            </a:extLst>
          </p:cNvPr>
          <p:cNvSpPr>
            <a:spLocks noGrp="1"/>
          </p:cNvSpPr>
          <p:nvPr>
            <p:ph type="sldNum" sz="quarter" idx="12"/>
          </p:nvPr>
        </p:nvSpPr>
        <p:spPr/>
        <p:txBody>
          <a:bodyPr/>
          <a:lstStyle/>
          <a:p>
            <a:fld id="{65201FD4-9D8D-4491-815B-63C7BF4F0034}" type="slidenum">
              <a:rPr lang="en-IN" smtClean="0"/>
              <a:t>10</a:t>
            </a:fld>
            <a:endParaRPr lang="en-IN"/>
          </a:p>
        </p:txBody>
      </p:sp>
      <p:sp>
        <p:nvSpPr>
          <p:cNvPr id="7" name="Rectangle 6">
            <a:extLst>
              <a:ext uri="{FF2B5EF4-FFF2-40B4-BE49-F238E27FC236}">
                <a16:creationId xmlns:a16="http://schemas.microsoft.com/office/drawing/2014/main" id="{C221EB6A-4A95-2BE4-7BE5-2ACA7594F474}"/>
              </a:ext>
            </a:extLst>
          </p:cNvPr>
          <p:cNvSpPr/>
          <p:nvPr/>
        </p:nvSpPr>
        <p:spPr>
          <a:xfrm>
            <a:off x="838200" y="5474383"/>
            <a:ext cx="1208808" cy="7025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2000" dirty="0"/>
              <a:t>Input </a:t>
            </a:r>
          </a:p>
        </p:txBody>
      </p:sp>
      <p:cxnSp>
        <p:nvCxnSpPr>
          <p:cNvPr id="13" name="Straight Arrow Connector 12">
            <a:extLst>
              <a:ext uri="{FF2B5EF4-FFF2-40B4-BE49-F238E27FC236}">
                <a16:creationId xmlns:a16="http://schemas.microsoft.com/office/drawing/2014/main" id="{E1BAECF0-3A73-ABCD-12F8-AD85E3EBD95D}"/>
              </a:ext>
            </a:extLst>
          </p:cNvPr>
          <p:cNvCxnSpPr>
            <a:cxnSpLocks/>
          </p:cNvCxnSpPr>
          <p:nvPr/>
        </p:nvCxnSpPr>
        <p:spPr>
          <a:xfrm>
            <a:off x="2047008" y="5815294"/>
            <a:ext cx="6754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84D38E97-891B-F2A5-F96D-730DF7647DB6}"/>
              </a:ext>
            </a:extLst>
          </p:cNvPr>
          <p:cNvSpPr/>
          <p:nvPr/>
        </p:nvSpPr>
        <p:spPr>
          <a:xfrm>
            <a:off x="2722417" y="5474399"/>
            <a:ext cx="1413164" cy="7025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2000" dirty="0"/>
              <a:t>Processing </a:t>
            </a:r>
          </a:p>
        </p:txBody>
      </p:sp>
      <p:cxnSp>
        <p:nvCxnSpPr>
          <p:cNvPr id="16" name="Straight Arrow Connector 15">
            <a:extLst>
              <a:ext uri="{FF2B5EF4-FFF2-40B4-BE49-F238E27FC236}">
                <a16:creationId xmlns:a16="http://schemas.microsoft.com/office/drawing/2014/main" id="{7EEA75AC-39A3-771E-2E15-56A546875D24}"/>
              </a:ext>
            </a:extLst>
          </p:cNvPr>
          <p:cNvCxnSpPr>
            <a:cxnSpLocks/>
          </p:cNvCxnSpPr>
          <p:nvPr/>
        </p:nvCxnSpPr>
        <p:spPr>
          <a:xfrm>
            <a:off x="4135581" y="5786126"/>
            <a:ext cx="7273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Rectangle 19">
            <a:extLst>
              <a:ext uri="{FF2B5EF4-FFF2-40B4-BE49-F238E27FC236}">
                <a16:creationId xmlns:a16="http://schemas.microsoft.com/office/drawing/2014/main" id="{5B25BDBC-2E75-B6B5-AE31-112113B3542C}"/>
              </a:ext>
            </a:extLst>
          </p:cNvPr>
          <p:cNvSpPr/>
          <p:nvPr/>
        </p:nvSpPr>
        <p:spPr>
          <a:xfrm>
            <a:off x="4810990" y="5474390"/>
            <a:ext cx="1589809" cy="7025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2000" dirty="0"/>
              <a:t>Multimodal Fusion </a:t>
            </a:r>
          </a:p>
        </p:txBody>
      </p:sp>
      <p:cxnSp>
        <p:nvCxnSpPr>
          <p:cNvPr id="21" name="Straight Arrow Connector 20">
            <a:extLst>
              <a:ext uri="{FF2B5EF4-FFF2-40B4-BE49-F238E27FC236}">
                <a16:creationId xmlns:a16="http://schemas.microsoft.com/office/drawing/2014/main" id="{92E1D43E-F48B-230F-4CC1-7F36D0178400}"/>
              </a:ext>
            </a:extLst>
          </p:cNvPr>
          <p:cNvCxnSpPr>
            <a:cxnSpLocks/>
          </p:cNvCxnSpPr>
          <p:nvPr/>
        </p:nvCxnSpPr>
        <p:spPr>
          <a:xfrm>
            <a:off x="6400799" y="5815294"/>
            <a:ext cx="7377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5408E73D-6796-02FA-D96A-3FCDB7259D61}"/>
              </a:ext>
            </a:extLst>
          </p:cNvPr>
          <p:cNvSpPr/>
          <p:nvPr/>
        </p:nvSpPr>
        <p:spPr>
          <a:xfrm>
            <a:off x="7138554" y="5474399"/>
            <a:ext cx="1340988" cy="7025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2000" dirty="0"/>
              <a:t>LLM</a:t>
            </a:r>
          </a:p>
        </p:txBody>
      </p:sp>
      <p:sp>
        <p:nvSpPr>
          <p:cNvPr id="27" name="Rectangle 26">
            <a:extLst>
              <a:ext uri="{FF2B5EF4-FFF2-40B4-BE49-F238E27FC236}">
                <a16:creationId xmlns:a16="http://schemas.microsoft.com/office/drawing/2014/main" id="{CA76F662-819D-3085-21A9-0749FEE8B61A}"/>
              </a:ext>
            </a:extLst>
          </p:cNvPr>
          <p:cNvSpPr/>
          <p:nvPr/>
        </p:nvSpPr>
        <p:spPr>
          <a:xfrm>
            <a:off x="9144922" y="5474383"/>
            <a:ext cx="1307539" cy="7025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2000" dirty="0"/>
              <a:t>Dashboard </a:t>
            </a:r>
          </a:p>
        </p:txBody>
      </p:sp>
      <p:sp>
        <p:nvSpPr>
          <p:cNvPr id="31" name="Rectangle 30">
            <a:extLst>
              <a:ext uri="{FF2B5EF4-FFF2-40B4-BE49-F238E27FC236}">
                <a16:creationId xmlns:a16="http://schemas.microsoft.com/office/drawing/2014/main" id="{34852255-68F8-C811-3FC0-A388BFC2B8A6}"/>
              </a:ext>
            </a:extLst>
          </p:cNvPr>
          <p:cNvSpPr/>
          <p:nvPr/>
        </p:nvSpPr>
        <p:spPr>
          <a:xfrm>
            <a:off x="10975847" y="5474383"/>
            <a:ext cx="1216152" cy="7025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2000" dirty="0"/>
              <a:t>Report</a:t>
            </a:r>
          </a:p>
        </p:txBody>
      </p:sp>
      <p:cxnSp>
        <p:nvCxnSpPr>
          <p:cNvPr id="36" name="Straight Arrow Connector 35">
            <a:extLst>
              <a:ext uri="{FF2B5EF4-FFF2-40B4-BE49-F238E27FC236}">
                <a16:creationId xmlns:a16="http://schemas.microsoft.com/office/drawing/2014/main" id="{2151A165-5105-0924-8A95-25A50C11C58B}"/>
              </a:ext>
            </a:extLst>
          </p:cNvPr>
          <p:cNvCxnSpPr>
            <a:cxnSpLocks/>
          </p:cNvCxnSpPr>
          <p:nvPr/>
        </p:nvCxnSpPr>
        <p:spPr>
          <a:xfrm>
            <a:off x="8446093" y="5815294"/>
            <a:ext cx="69883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E514FE8A-CEA1-3BFE-48D1-38F574CE5E80}"/>
              </a:ext>
            </a:extLst>
          </p:cNvPr>
          <p:cNvCxnSpPr>
            <a:cxnSpLocks/>
          </p:cNvCxnSpPr>
          <p:nvPr/>
        </p:nvCxnSpPr>
        <p:spPr>
          <a:xfrm>
            <a:off x="10452461" y="5815294"/>
            <a:ext cx="5233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62065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95AF1-B807-AC15-9C1A-B86677AF63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F324FF-B70A-2FC0-8FD0-C802E31DDBD0}"/>
              </a:ext>
            </a:extLst>
          </p:cNvPr>
          <p:cNvSpPr>
            <a:spLocks noGrp="1"/>
          </p:cNvSpPr>
          <p:nvPr>
            <p:ph idx="1"/>
          </p:nvPr>
        </p:nvSpPr>
        <p:spPr/>
        <p:txBody>
          <a:bodyPr>
            <a:normAutofit fontScale="70000" lnSpcReduction="20000"/>
          </a:bodyPr>
          <a:lstStyle/>
          <a:p>
            <a:pPr algn="just"/>
            <a:r>
              <a:rPr lang="en-IN" dirty="0">
                <a:latin typeface="Times New Roman" panose="02020603050405020304" pitchFamily="18" charset="0"/>
                <a:cs typeface="Times New Roman" panose="02020603050405020304" pitchFamily="18" charset="0"/>
              </a:rPr>
              <a:t>Capture live video and audio during an interview</a:t>
            </a:r>
          </a:p>
          <a:p>
            <a:pPr algn="just"/>
            <a:r>
              <a:rPr lang="en-IN" dirty="0">
                <a:latin typeface="Times New Roman" panose="02020603050405020304" pitchFamily="18" charset="0"/>
                <a:cs typeface="Times New Roman" panose="02020603050405020304" pitchFamily="18" charset="0"/>
              </a:rPr>
              <a:t>Detect facial expressions through a webcam input</a:t>
            </a:r>
          </a:p>
          <a:p>
            <a:pPr algn="just"/>
            <a:r>
              <a:rPr lang="en-IN" dirty="0">
                <a:latin typeface="Times New Roman" panose="02020603050405020304" pitchFamily="18" charset="0"/>
                <a:cs typeface="Times New Roman" panose="02020603050405020304" pitchFamily="18" charset="0"/>
              </a:rPr>
              <a:t>Recognize speech emotion and vocal characteristics</a:t>
            </a:r>
          </a:p>
          <a:p>
            <a:pPr algn="just"/>
            <a:r>
              <a:rPr lang="en-IN" dirty="0">
                <a:latin typeface="Times New Roman" panose="02020603050405020304" pitchFamily="18" charset="0"/>
                <a:cs typeface="Times New Roman" panose="02020603050405020304" pitchFamily="18" charset="0"/>
              </a:rPr>
              <a:t>Support multi-lingual interviews across major Indian languages </a:t>
            </a:r>
          </a:p>
          <a:p>
            <a:pPr algn="just"/>
            <a:r>
              <a:rPr lang="en-IN" dirty="0">
                <a:latin typeface="Times New Roman" panose="02020603050405020304" pitchFamily="18" charset="0"/>
                <a:cs typeface="Times New Roman" panose="02020603050405020304" pitchFamily="18" charset="0"/>
              </a:rPr>
              <a:t>Convert speech from different Indian languages into text</a:t>
            </a:r>
          </a:p>
          <a:p>
            <a:pPr algn="just"/>
            <a:r>
              <a:rPr lang="en-IN" dirty="0">
                <a:latin typeface="Times New Roman" panose="02020603050405020304" pitchFamily="18" charset="0"/>
                <a:cs typeface="Times New Roman" panose="02020603050405020304" pitchFamily="18" charset="0"/>
              </a:rPr>
              <a:t>Measure response time and identify any behavioural changes</a:t>
            </a:r>
          </a:p>
          <a:p>
            <a:pPr algn="just"/>
            <a:r>
              <a:rPr lang="en-IN" dirty="0">
                <a:latin typeface="Times New Roman" panose="02020603050405020304" pitchFamily="18" charset="0"/>
                <a:cs typeface="Times New Roman" panose="02020603050405020304" pitchFamily="18" charset="0"/>
              </a:rPr>
              <a:t>Generating adaptive follow-up questions in the language selected for the interview</a:t>
            </a:r>
          </a:p>
          <a:p>
            <a:pPr algn="just"/>
            <a:r>
              <a:rPr lang="en-IN" dirty="0">
                <a:latin typeface="Times New Roman" panose="02020603050405020304" pitchFamily="18" charset="0"/>
                <a:cs typeface="Times New Roman" panose="02020603050405020304" pitchFamily="18" charset="0"/>
              </a:rPr>
              <a:t>Display live behavioural insights on an investigator dashboard</a:t>
            </a:r>
          </a:p>
          <a:p>
            <a:pPr algn="just"/>
            <a:r>
              <a:rPr lang="en-IN" dirty="0">
                <a:latin typeface="Times New Roman" panose="02020603050405020304" pitchFamily="18" charset="0"/>
                <a:cs typeface="Times New Roman" panose="02020603050405020304" pitchFamily="18" charset="0"/>
              </a:rPr>
              <a:t>Generating interview summaries an behavioural timelines</a:t>
            </a:r>
          </a:p>
          <a:p>
            <a:pPr algn="just"/>
            <a:r>
              <a:rPr lang="en-IN" dirty="0">
                <a:latin typeface="Times New Roman" panose="02020603050405020304" pitchFamily="18" charset="0"/>
                <a:cs typeface="Times New Roman" panose="02020603050405020304" pitchFamily="18" charset="0"/>
              </a:rPr>
              <a:t>Store interview records securely for authorized access</a:t>
            </a:r>
          </a:p>
          <a:p>
            <a:pPr algn="just"/>
            <a:r>
              <a:rPr lang="en-IN" dirty="0">
                <a:latin typeface="Times New Roman" panose="02020603050405020304" pitchFamily="18" charset="0"/>
                <a:cs typeface="Times New Roman" panose="02020603050405020304" pitchFamily="18" charset="0"/>
              </a:rPr>
              <a:t>Produce transcripts and interview summaries in the original language along with optional English translation</a:t>
            </a:r>
          </a:p>
          <a:p>
            <a:pPr algn="just"/>
            <a:r>
              <a:rPr lang="en-IN" dirty="0">
                <a:latin typeface="Times New Roman" panose="02020603050405020304" pitchFamily="18" charset="0"/>
                <a:cs typeface="Times New Roman" panose="02020603050405020304" pitchFamily="18" charset="0"/>
              </a:rPr>
              <a:t>Keep final decisions under the investigator’s control</a:t>
            </a:r>
          </a:p>
        </p:txBody>
      </p:sp>
      <p:sp>
        <p:nvSpPr>
          <p:cNvPr id="4" name="object 2">
            <a:extLst>
              <a:ext uri="{FF2B5EF4-FFF2-40B4-BE49-F238E27FC236}">
                <a16:creationId xmlns:a16="http://schemas.microsoft.com/office/drawing/2014/main" id="{0C9A0194-5820-F292-3A94-449C000E51A7}"/>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Functional Requirements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4F25267-3005-EC45-A624-B78484DFA4EC}"/>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27-10-2026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610022FF-AD0C-E15E-5F17-B2827B5546B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BD8D6198-8B2C-26FB-53D2-A5B87C95A4FB}"/>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11</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1299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2F2ED-50F9-3DFA-95BB-1A1059C5D8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3F2560-A5FE-A724-8F39-E7E901E8FADC}"/>
              </a:ext>
            </a:extLst>
          </p:cNvPr>
          <p:cNvSpPr>
            <a:spLocks noGrp="1"/>
          </p:cNvSpPr>
          <p:nvPr>
            <p:ph idx="1"/>
          </p:nvPr>
        </p:nvSpPr>
        <p:spPr/>
        <p:txBody>
          <a:bodyPr>
            <a:normAutofit fontScale="92500" lnSpcReduction="10000"/>
          </a:bodyPr>
          <a:lstStyle/>
          <a:p>
            <a:pPr algn="just"/>
            <a:r>
              <a:rPr lang="en-IN" dirty="0">
                <a:latin typeface="Times New Roman" panose="02020603050405020304" pitchFamily="18" charset="0"/>
                <a:cs typeface="Times New Roman" panose="02020603050405020304" pitchFamily="18" charset="0"/>
              </a:rPr>
              <a:t>User and session management: Investigator login, and interview creation and session control </a:t>
            </a:r>
          </a:p>
          <a:p>
            <a:pPr algn="just"/>
            <a:r>
              <a:rPr lang="en-IN" dirty="0">
                <a:latin typeface="Times New Roman" panose="02020603050405020304" pitchFamily="18" charset="0"/>
                <a:cs typeface="Times New Roman" panose="02020603050405020304" pitchFamily="18" charset="0"/>
              </a:rPr>
              <a:t>Video processing module: Webcam capture, face detection, and facial-expression recognition</a:t>
            </a:r>
          </a:p>
          <a:p>
            <a:pPr algn="just"/>
            <a:r>
              <a:rPr lang="en-IN" dirty="0">
                <a:latin typeface="Times New Roman" panose="02020603050405020304" pitchFamily="18" charset="0"/>
                <a:cs typeface="Times New Roman" panose="02020603050405020304" pitchFamily="18" charset="0"/>
              </a:rPr>
              <a:t>Audio and speech module: Audio capture, speech-to-text conversion, speech-emotion and vocal-stress analysis</a:t>
            </a:r>
          </a:p>
          <a:p>
            <a:pPr algn="just"/>
            <a:r>
              <a:rPr lang="en-IN" dirty="0">
                <a:latin typeface="Times New Roman" panose="02020603050405020304" pitchFamily="18" charset="0"/>
                <a:cs typeface="Times New Roman" panose="02020603050405020304" pitchFamily="18" charset="0"/>
              </a:rPr>
              <a:t>Conversational AI module: Analyse the interview context, generate adaptive follow-up questions, and maintain conversation history</a:t>
            </a:r>
          </a:p>
          <a:p>
            <a:pPr algn="just"/>
            <a:r>
              <a:rPr lang="en-IN" dirty="0">
                <a:latin typeface="Times New Roman" panose="02020603050405020304" pitchFamily="18" charset="0"/>
                <a:cs typeface="Times New Roman" panose="02020603050405020304" pitchFamily="18" charset="0"/>
              </a:rPr>
              <a:t>Behavioural analysis module: Combine facial, vocal, response-time, and textual cues, identify changes and inconsistencies, and avoid directly classifying a person as truthful or deceptive </a:t>
            </a:r>
          </a:p>
        </p:txBody>
      </p:sp>
      <p:sp>
        <p:nvSpPr>
          <p:cNvPr id="4" name="object 2">
            <a:extLst>
              <a:ext uri="{FF2B5EF4-FFF2-40B4-BE49-F238E27FC236}">
                <a16:creationId xmlns:a16="http://schemas.microsoft.com/office/drawing/2014/main" id="{B27DA514-48FC-4BF4-8205-DE21D456C5FF}"/>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Modules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74A04E0-6631-130F-A154-C85D978EA39B}"/>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27-10-2026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39615995-EDEB-C984-B852-1229C23B1A05}"/>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067F5109-389C-3E37-E553-A559233EFD9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12</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9870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1F5DA-F029-9CE4-9D8C-1BAEF724ABA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97140A-B789-B20D-16AD-E5F966E94CBC}"/>
              </a:ext>
            </a:extLst>
          </p:cNvPr>
          <p:cNvSpPr>
            <a:spLocks noGrp="1"/>
          </p:cNvSpPr>
          <p:nvPr>
            <p:ph idx="1"/>
          </p:nvPr>
        </p:nvSpPr>
        <p:spPr/>
        <p:txBody>
          <a:bodyPr>
            <a:normAutofit/>
          </a:bodyPr>
          <a:lstStyle/>
          <a:p>
            <a:pPr algn="just"/>
            <a:r>
              <a:rPr lang="en-IN" dirty="0">
                <a:latin typeface="Times New Roman" panose="02020603050405020304" pitchFamily="18" charset="0"/>
                <a:cs typeface="Times New Roman" panose="02020603050405020304" pitchFamily="18" charset="0"/>
              </a:rPr>
              <a:t>Dashboard and reporting module: Display real-time behavioural indicators, and generate transcripts, timelines, summaries, and recommendations</a:t>
            </a:r>
          </a:p>
          <a:p>
            <a:pPr algn="just"/>
            <a:r>
              <a:rPr lang="en-IN" dirty="0">
                <a:latin typeface="Times New Roman" panose="02020603050405020304" pitchFamily="18" charset="0"/>
                <a:cs typeface="Times New Roman" panose="02020603050405020304" pitchFamily="18" charset="0"/>
              </a:rPr>
              <a:t>Database module: Store interview details, transcripts, detected emotions, and reports </a:t>
            </a:r>
          </a:p>
        </p:txBody>
      </p:sp>
      <p:sp>
        <p:nvSpPr>
          <p:cNvPr id="4" name="object 2">
            <a:extLst>
              <a:ext uri="{FF2B5EF4-FFF2-40B4-BE49-F238E27FC236}">
                <a16:creationId xmlns:a16="http://schemas.microsoft.com/office/drawing/2014/main" id="{9150F1C9-BDBB-E43D-BA97-8577F7017F51}"/>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Modules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5750FF81-051D-3E2F-ED25-9EACF6B4A178}"/>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27-10-2026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3126D900-1532-3A65-E56A-1FF4935775FE}"/>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308EAC5E-BBF8-4B8C-D6D4-231B4691FFDE}"/>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13</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4349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556E8-0003-02C5-D37D-A5CC4CE44D5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B67973-736B-B05D-D378-DA7CBE3EBDAD}"/>
              </a:ext>
            </a:extLst>
          </p:cNvPr>
          <p:cNvSpPr>
            <a:spLocks noGrp="1"/>
          </p:cNvSpPr>
          <p:nvPr>
            <p:ph idx="1"/>
          </p:nvPr>
        </p:nvSpPr>
        <p:spPr/>
        <p:txBody>
          <a:bodyPr>
            <a:normAutofit/>
          </a:bodyPr>
          <a:lstStyle/>
          <a:p>
            <a:pPr algn="just"/>
            <a:r>
              <a:rPr lang="en-IN" dirty="0">
                <a:latin typeface="Times New Roman" panose="02020603050405020304" pitchFamily="18" charset="0"/>
                <a:cs typeface="Times New Roman" panose="02020603050405020304" pitchFamily="18" charset="0"/>
              </a:rPr>
              <a:t>Setup: Webcam, microphone, sample interview questions, backend, database, and dashboard</a:t>
            </a:r>
          </a:p>
          <a:p>
            <a:pPr algn="just"/>
            <a:r>
              <a:rPr lang="en-IN" dirty="0">
                <a:latin typeface="Times New Roman" panose="02020603050405020304" pitchFamily="18" charset="0"/>
                <a:cs typeface="Times New Roman" panose="02020603050405020304" pitchFamily="18" charset="0"/>
              </a:rPr>
              <a:t>Test cases:</a:t>
            </a: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Normal or neutral response</a:t>
            </a: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Emotional or stressed response </a:t>
            </a: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Delayed response</a:t>
            </a: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Change in facial expression</a:t>
            </a: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Adaptive follow-up question generation </a:t>
            </a:r>
          </a:p>
          <a:p>
            <a:pPr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E386D544-A80A-B599-44C7-B40BA6ECC63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Experiments and Results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5D376B32-FA12-4961-0DBF-EE57A7705BF9}"/>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27-10-2026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14</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6188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AA31D-01F4-03AD-3F3A-986BCFD9CD06}"/>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Experiments and Results</a:t>
            </a:r>
            <a:endParaRPr lang="en-GB" sz="3200" dirty="0"/>
          </a:p>
        </p:txBody>
      </p:sp>
      <p:sp>
        <p:nvSpPr>
          <p:cNvPr id="3" name="Content Placeholder 2">
            <a:extLst>
              <a:ext uri="{FF2B5EF4-FFF2-40B4-BE49-F238E27FC236}">
                <a16:creationId xmlns:a16="http://schemas.microsoft.com/office/drawing/2014/main" id="{AAF83FE1-4AC0-68EC-697C-262D3EF9A779}"/>
              </a:ext>
            </a:extLst>
          </p:cNvPr>
          <p:cNvSpPr>
            <a:spLocks noGrp="1"/>
          </p:cNvSpPr>
          <p:nvPr>
            <p:ph idx="1"/>
          </p:nvPr>
        </p:nvSpPr>
        <p:spPr/>
        <p:txBody>
          <a:bodyPr/>
          <a:lstStyle/>
          <a:p>
            <a:pPr algn="just"/>
            <a:r>
              <a:rPr lang="en-GB" dirty="0">
                <a:latin typeface="Times New Roman" panose="02020603050405020304" pitchFamily="18" charset="0"/>
                <a:cs typeface="Times New Roman" panose="02020603050405020304" pitchFamily="18" charset="0"/>
              </a:rPr>
              <a:t>Evaluation measures: </a:t>
            </a:r>
          </a:p>
          <a:p>
            <a:pPr algn="just">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Facial-emotion accuracy</a:t>
            </a:r>
          </a:p>
          <a:p>
            <a:pPr algn="just">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Speech-emotion accuracy</a:t>
            </a:r>
          </a:p>
          <a:p>
            <a:pPr algn="just">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Speech-to-text accuracy or word error rate</a:t>
            </a:r>
          </a:p>
          <a:p>
            <a:pPr algn="just">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Average processing time </a:t>
            </a:r>
          </a:p>
          <a:p>
            <a:pPr algn="just">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Successful adaptive-question generation </a:t>
            </a:r>
          </a:p>
          <a:p>
            <a:pPr algn="just"/>
            <a:r>
              <a:rPr lang="en-GB" dirty="0">
                <a:latin typeface="Times New Roman" panose="02020603050405020304" pitchFamily="18" charset="0"/>
                <a:cs typeface="Times New Roman" panose="02020603050405020304" pitchFamily="18" charset="0"/>
              </a:rPr>
              <a:t>Current limitations: lighting, background noises, accent variations, limited training data, and occasional errors by the LLM.</a:t>
            </a:r>
          </a:p>
        </p:txBody>
      </p:sp>
      <p:sp>
        <p:nvSpPr>
          <p:cNvPr id="4" name="Date Placeholder 3">
            <a:extLst>
              <a:ext uri="{FF2B5EF4-FFF2-40B4-BE49-F238E27FC236}">
                <a16:creationId xmlns:a16="http://schemas.microsoft.com/office/drawing/2014/main" id="{5D3A523A-DFE9-E851-C746-92A348EF6CCC}"/>
              </a:ext>
            </a:extLst>
          </p:cNvPr>
          <p:cNvSpPr>
            <a:spLocks noGrp="1"/>
          </p:cNvSpPr>
          <p:nvPr>
            <p:ph type="dt" sz="half" idx="10"/>
          </p:nvPr>
        </p:nvSpPr>
        <p:spPr/>
        <p:txBody>
          <a:bodyPr/>
          <a:lstStyle/>
          <a:p>
            <a:fld id="{FEA886FF-1BA7-4533-94E6-869CE1E2970B}" type="datetime1">
              <a:rPr lang="en-IN" smtClean="0"/>
              <a:t>27-10-2026</a:t>
            </a:fld>
            <a:endParaRPr lang="en-IN"/>
          </a:p>
        </p:txBody>
      </p:sp>
      <p:sp>
        <p:nvSpPr>
          <p:cNvPr id="5" name="Footer Placeholder 4">
            <a:extLst>
              <a:ext uri="{FF2B5EF4-FFF2-40B4-BE49-F238E27FC236}">
                <a16:creationId xmlns:a16="http://schemas.microsoft.com/office/drawing/2014/main" id="{174F966D-02E1-EB74-D163-3AB24959058E}"/>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F8A4DE77-F9E1-D177-336A-290E6A633A96}"/>
              </a:ext>
            </a:extLst>
          </p:cNvPr>
          <p:cNvSpPr>
            <a:spLocks noGrp="1"/>
          </p:cNvSpPr>
          <p:nvPr>
            <p:ph type="sldNum" sz="quarter" idx="12"/>
          </p:nvPr>
        </p:nvSpPr>
        <p:spPr/>
        <p:txBody>
          <a:bodyPr/>
          <a:lstStyle/>
          <a:p>
            <a:fld id="{65201FD4-9D8D-4491-815B-63C7BF4F0034}" type="slidenum">
              <a:rPr lang="en-IN" smtClean="0"/>
              <a:t>15</a:t>
            </a:fld>
            <a:endParaRPr lang="en-IN"/>
          </a:p>
        </p:txBody>
      </p:sp>
    </p:spTree>
    <p:extLst>
      <p:ext uri="{BB962C8B-B14F-4D97-AF65-F5344CB8AC3E}">
        <p14:creationId xmlns:p14="http://schemas.microsoft.com/office/powerpoint/2010/main" val="3680369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49A39-F362-DB35-B5DF-7E322AB9CA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4F33DD-84F0-A7F9-A1DC-A4DEA1A7D846}"/>
              </a:ext>
            </a:extLst>
          </p:cNvPr>
          <p:cNvSpPr>
            <a:spLocks noGrp="1"/>
          </p:cNvSpPr>
          <p:nvPr>
            <p:ph idx="1"/>
          </p:nvPr>
        </p:nvSpPr>
        <p:spPr/>
        <p:txBody>
          <a:bodyPr>
            <a:normAutofit fontScale="92500" lnSpcReduction="20000"/>
          </a:bodyPr>
          <a:lstStyle/>
          <a:p>
            <a:pPr algn="just"/>
            <a:r>
              <a:rPr lang="en-IN" dirty="0">
                <a:latin typeface="Times New Roman" panose="02020603050405020304" pitchFamily="18" charset="0"/>
                <a:cs typeface="Times New Roman" panose="02020603050405020304" pitchFamily="18" charset="0"/>
              </a:rPr>
              <a:t>An initial AI-assisted investigative interview prototype has been developed</a:t>
            </a:r>
          </a:p>
          <a:p>
            <a:pPr algn="just"/>
            <a:r>
              <a:rPr lang="en-IN" dirty="0">
                <a:latin typeface="Times New Roman" panose="02020603050405020304" pitchFamily="18" charset="0"/>
                <a:cs typeface="Times New Roman" panose="02020603050405020304" pitchFamily="18" charset="0"/>
              </a:rPr>
              <a:t>The system integrates facial expression, speech processing, and LLM-base adaptive questioning</a:t>
            </a:r>
          </a:p>
          <a:p>
            <a:pPr algn="just"/>
            <a:r>
              <a:rPr lang="en-IN" dirty="0">
                <a:latin typeface="Times New Roman" panose="02020603050405020304" pitchFamily="18" charset="0"/>
                <a:cs typeface="Times New Roman" panose="02020603050405020304" pitchFamily="18" charset="0"/>
              </a:rPr>
              <a:t>Provides live behavioural observations, interview transcripts, summaries, and timelines </a:t>
            </a:r>
          </a:p>
          <a:p>
            <a:pPr algn="just"/>
            <a:r>
              <a:rPr lang="en-IN" dirty="0">
                <a:latin typeface="Times New Roman" panose="02020603050405020304" pitchFamily="18" charset="0"/>
                <a:cs typeface="Times New Roman" panose="02020603050405020304" pitchFamily="18" charset="0"/>
              </a:rPr>
              <a:t>The prototype demonstrates how multimodal AI can improve consistency and support investigators during interviews.</a:t>
            </a:r>
          </a:p>
          <a:p>
            <a:pPr algn="just"/>
            <a:r>
              <a:rPr lang="en-IN" dirty="0">
                <a:latin typeface="Times New Roman" panose="02020603050405020304" pitchFamily="18" charset="0"/>
                <a:cs typeface="Times New Roman" panose="02020603050405020304" pitchFamily="18" charset="0"/>
              </a:rPr>
              <a:t>The system doesn’t determine deception or replace investigators, with the final decision remaining with the law-enforcement personnel</a:t>
            </a:r>
          </a:p>
          <a:p>
            <a:pPr algn="just"/>
            <a:r>
              <a:rPr lang="en-IN" dirty="0">
                <a:latin typeface="Times New Roman" panose="02020603050405020304" pitchFamily="18" charset="0"/>
                <a:cs typeface="Times New Roman" panose="02020603050405020304" pitchFamily="18" charset="0"/>
              </a:rPr>
              <a:t>Expand and evaluate the system using diverse Indian-language, accent, and dialect datasets to reduce linguistic bias and improve accuracy  </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3754A46F-4AC3-5AF1-0B78-C0B5112BD14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Conclusion</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851BAA61-633E-E24B-7DEE-4B2A2B1FA9A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27-10-2026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B93C553-2D0C-5A0A-39DC-21C43BD88BF0}"/>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6BF7A7E9-45BE-62F4-D3A6-F19DC6ABEDE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16</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7498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7CFC0C65-61CC-E657-43F7-99C8E5362448}"/>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References</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CC4F09CD-956A-B8B3-1183-9C28C80DDB9A}"/>
              </a:ext>
            </a:extLst>
          </p:cNvPr>
          <p:cNvSpPr>
            <a:spLocks noGrp="1" noChangeArrowheads="1"/>
          </p:cNvSpPr>
          <p:nvPr>
            <p:ph idx="1"/>
          </p:nvPr>
        </p:nvSpPr>
        <p:spPr bwMode="auto">
          <a:xfrm>
            <a:off x="565256" y="1382286"/>
            <a:ext cx="1051560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00000"/>
              </a:lnSpc>
              <a:spcBef>
                <a:spcPct val="0"/>
              </a:spcBef>
              <a:spcAft>
                <a:spcPct val="0"/>
              </a:spcAft>
              <a:buNone/>
            </a:pPr>
            <a:r>
              <a:rPr lang="en-IN" sz="2000" dirty="0">
                <a:latin typeface="Times New Roman" panose="02020603050405020304" pitchFamily="18" charset="0"/>
                <a:cs typeface="Times New Roman" panose="02020603050405020304" pitchFamily="18" charset="0"/>
              </a:rPr>
              <a:t>[1] </a:t>
            </a:r>
            <a:r>
              <a:rPr lang="en-GB" sz="2000" dirty="0">
                <a:latin typeface="Times New Roman" panose="02020603050405020304" pitchFamily="18" charset="0"/>
                <a:cs typeface="Times New Roman" panose="02020603050405020304" pitchFamily="18" charset="0"/>
              </a:rPr>
              <a:t>INTU-AI: Digitalization of Police Interrogation Supported by Artificial Intelligence. </a:t>
            </a:r>
            <a:r>
              <a:rPr lang="en-GB" sz="2000" i="1" dirty="0">
                <a:latin typeface="Times New Roman" panose="02020603050405020304" pitchFamily="18" charset="0"/>
                <a:cs typeface="Times New Roman" panose="02020603050405020304" pitchFamily="18" charset="0"/>
              </a:rPr>
              <a:t>Applied Sciences</a:t>
            </a:r>
            <a:r>
              <a:rPr lang="en-GB" sz="2000" dirty="0">
                <a:latin typeface="Times New Roman" panose="02020603050405020304" pitchFamily="18" charset="0"/>
                <a:cs typeface="Times New Roman" panose="02020603050405020304" pitchFamily="18" charset="0"/>
              </a:rPr>
              <a:t>, 2025.</a:t>
            </a:r>
          </a:p>
          <a:p>
            <a:pPr marL="0" indent="0" algn="just" eaLnBrk="0" fontAlgn="base" hangingPunct="0">
              <a:lnSpc>
                <a:spcPct val="100000"/>
              </a:lnSpc>
              <a:spcBef>
                <a:spcPct val="0"/>
              </a:spcBef>
              <a:spcAft>
                <a:spcPct val="0"/>
              </a:spcAft>
              <a:buNone/>
            </a:pPr>
            <a:r>
              <a:rPr lang="en-IN" sz="2000" dirty="0">
                <a:latin typeface="Times New Roman" panose="02020603050405020304" pitchFamily="18" charset="0"/>
                <a:cs typeface="Times New Roman" panose="02020603050405020304" pitchFamily="18" charset="0"/>
              </a:rPr>
              <a:t>[2] </a:t>
            </a:r>
            <a:r>
              <a:rPr lang="en-GB" sz="2000" dirty="0">
                <a:latin typeface="Times New Roman" panose="02020603050405020304" pitchFamily="18" charset="0"/>
                <a:cs typeface="Times New Roman" panose="02020603050405020304" pitchFamily="18" charset="0"/>
              </a:rPr>
              <a:t>Detecting Lies in Investigative Interviews Through Response Latencies and Unexpected Questions. </a:t>
            </a:r>
            <a:r>
              <a:rPr lang="en-GB" sz="2000" i="1" dirty="0">
                <a:latin typeface="Times New Roman" panose="02020603050405020304" pitchFamily="18" charset="0"/>
                <a:cs typeface="Times New Roman" panose="02020603050405020304" pitchFamily="18" charset="0"/>
              </a:rPr>
              <a:t>Scientific Reports (Nature)</a:t>
            </a:r>
            <a:r>
              <a:rPr lang="en-GB" sz="2000" dirty="0">
                <a:latin typeface="Times New Roman" panose="02020603050405020304" pitchFamily="18" charset="0"/>
                <a:cs typeface="Times New Roman" panose="02020603050405020304" pitchFamily="18" charset="0"/>
              </a:rPr>
              <a:t>, 2024.</a:t>
            </a:r>
          </a:p>
          <a:p>
            <a:pPr marL="0" indent="0" algn="just" eaLnBrk="0" fontAlgn="base" hangingPunct="0">
              <a:lnSpc>
                <a:spcPct val="100000"/>
              </a:lnSpc>
              <a:spcBef>
                <a:spcPct val="0"/>
              </a:spcBef>
              <a:spcAft>
                <a:spcPct val="0"/>
              </a:spcAft>
              <a:buNone/>
            </a:pPr>
            <a:r>
              <a:rPr lang="en-GB" altLang="en-US" sz="2000" dirty="0">
                <a:latin typeface="Times New Roman" panose="02020603050405020304" pitchFamily="18" charset="0"/>
                <a:cs typeface="Times New Roman" panose="02020603050405020304" pitchFamily="18" charset="0"/>
              </a:rPr>
              <a:t>[3] </a:t>
            </a:r>
            <a:r>
              <a:rPr lang="en-GB" sz="2000" dirty="0">
                <a:latin typeface="Times New Roman" panose="02020603050405020304" pitchFamily="18" charset="0"/>
                <a:cs typeface="Times New Roman" panose="02020603050405020304" pitchFamily="18" charset="0"/>
              </a:rPr>
              <a:t>LAPIS: Language Model-Augmented Police Investigation System. </a:t>
            </a:r>
            <a:r>
              <a:rPr lang="en-GB" sz="2000" dirty="0" err="1">
                <a:latin typeface="Times New Roman" panose="02020603050405020304" pitchFamily="18" charset="0"/>
                <a:cs typeface="Times New Roman" panose="02020603050405020304" pitchFamily="18" charset="0"/>
              </a:rPr>
              <a:t>arXiv</a:t>
            </a:r>
            <a:r>
              <a:rPr lang="en-GB" sz="2000" dirty="0">
                <a:latin typeface="Times New Roman" panose="02020603050405020304" pitchFamily="18" charset="0"/>
                <a:cs typeface="Times New Roman" panose="02020603050405020304" pitchFamily="18" charset="0"/>
              </a:rPr>
              <a:t>, 2024.</a:t>
            </a:r>
            <a:endParaRPr lang="en-GB" altLang="en-US" sz="2000" dirty="0">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None/>
            </a:pPr>
            <a:r>
              <a:rPr lang="en-GB" altLang="en-US" sz="2000" dirty="0">
                <a:latin typeface="Times New Roman" panose="02020603050405020304" pitchFamily="18" charset="0"/>
                <a:cs typeface="Times New Roman" panose="02020603050405020304" pitchFamily="18" charset="0"/>
              </a:rPr>
              <a:t>[4] </a:t>
            </a:r>
            <a:r>
              <a:rPr lang="en-GB" sz="2000" dirty="0">
                <a:latin typeface="Times New Roman" panose="02020603050405020304" pitchFamily="18" charset="0"/>
                <a:cs typeface="Times New Roman" panose="02020603050405020304" pitchFamily="18" charset="0"/>
              </a:rPr>
              <a:t>A Deception Detection Model Using Integrated LLM with Emotion Features. </a:t>
            </a:r>
            <a:r>
              <a:rPr lang="en-GB" sz="2000" i="1" dirty="0">
                <a:latin typeface="Times New Roman" panose="02020603050405020304" pitchFamily="18" charset="0"/>
                <a:cs typeface="Times New Roman" panose="02020603050405020304" pitchFamily="18" charset="0"/>
              </a:rPr>
              <a:t>Scientific Reports</a:t>
            </a:r>
            <a:r>
              <a:rPr lang="en-GB" sz="2000" dirty="0">
                <a:latin typeface="Times New Roman" panose="02020603050405020304" pitchFamily="18" charset="0"/>
                <a:cs typeface="Times New Roman" panose="02020603050405020304" pitchFamily="18" charset="0"/>
              </a:rPr>
              <a:t>, 2025.</a:t>
            </a:r>
            <a:endParaRPr lang="en-GB" altLang="en-US" sz="2000" dirty="0">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None/>
            </a:pPr>
            <a:r>
              <a:rPr lang="en-GB" altLang="en-US" sz="2000" dirty="0">
                <a:latin typeface="Times New Roman" panose="02020603050405020304" pitchFamily="18" charset="0"/>
                <a:cs typeface="Times New Roman" panose="02020603050405020304" pitchFamily="18" charset="0"/>
              </a:rPr>
              <a:t>[5] </a:t>
            </a:r>
            <a:r>
              <a:rPr lang="en-GB" sz="2000" dirty="0">
                <a:latin typeface="Times New Roman" panose="02020603050405020304" pitchFamily="18" charset="0"/>
                <a:cs typeface="Times New Roman" panose="02020603050405020304" pitchFamily="18" charset="0"/>
              </a:rPr>
              <a:t>Introducing Representations of Facial Affect in Automated Multimodal Deception Detection. </a:t>
            </a:r>
            <a:r>
              <a:rPr lang="en-GB" sz="2000" dirty="0" err="1">
                <a:latin typeface="Times New Roman" panose="02020603050405020304" pitchFamily="18" charset="0"/>
                <a:cs typeface="Times New Roman" panose="02020603050405020304" pitchFamily="18" charset="0"/>
              </a:rPr>
              <a:t>arXiv</a:t>
            </a:r>
            <a:r>
              <a:rPr lang="en-GB" sz="2000" dirty="0">
                <a:latin typeface="Times New Roman" panose="02020603050405020304" pitchFamily="18" charset="0"/>
                <a:cs typeface="Times New Roman" panose="02020603050405020304" pitchFamily="18" charset="0"/>
              </a:rPr>
              <a:t>, 2020</a:t>
            </a:r>
            <a:endParaRPr lang="en-GB" altLang="en-US" sz="2000" dirty="0">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None/>
            </a:pPr>
            <a:r>
              <a:rPr lang="en-GB" altLang="en-US" sz="2000" dirty="0">
                <a:latin typeface="Times New Roman" panose="02020603050405020304" pitchFamily="18" charset="0"/>
                <a:cs typeface="Times New Roman" panose="02020603050405020304" pitchFamily="18" charset="0"/>
              </a:rPr>
              <a:t>[6] </a:t>
            </a:r>
            <a:r>
              <a:rPr lang="en-GB" sz="2000" dirty="0">
                <a:latin typeface="Times New Roman" panose="02020603050405020304" pitchFamily="18" charset="0"/>
                <a:cs typeface="Times New Roman" panose="02020603050405020304" pitchFamily="18" charset="0"/>
              </a:rPr>
              <a:t>Towards AI-Driven Policing: Knowledge Discovery from Police Body-Worn Camera Footage. </a:t>
            </a:r>
            <a:r>
              <a:rPr lang="en-GB" sz="2000" dirty="0" err="1">
                <a:latin typeface="Times New Roman" panose="02020603050405020304" pitchFamily="18" charset="0"/>
                <a:cs typeface="Times New Roman" panose="02020603050405020304" pitchFamily="18" charset="0"/>
              </a:rPr>
              <a:t>arXiv</a:t>
            </a:r>
            <a:r>
              <a:rPr lang="en-GB" sz="2000" dirty="0">
                <a:latin typeface="Times New Roman" panose="02020603050405020304" pitchFamily="18" charset="0"/>
                <a:cs typeface="Times New Roman" panose="02020603050405020304" pitchFamily="18" charset="0"/>
              </a:rPr>
              <a:t>, 2025.</a:t>
            </a:r>
          </a:p>
          <a:p>
            <a:pPr marL="0" indent="0" algn="just" eaLnBrk="0" fontAlgn="base" hangingPunct="0">
              <a:lnSpc>
                <a:spcPct val="100000"/>
              </a:lnSpc>
              <a:spcBef>
                <a:spcPct val="0"/>
              </a:spcBef>
              <a:spcAft>
                <a:spcPct val="0"/>
              </a:spcAft>
              <a:buNone/>
            </a:pPr>
            <a:r>
              <a:rPr lang="en-GB" altLang="en-US" sz="2000" dirty="0">
                <a:latin typeface="Times New Roman" panose="02020603050405020304" pitchFamily="18" charset="0"/>
                <a:cs typeface="Times New Roman" panose="02020603050405020304" pitchFamily="18" charset="0"/>
              </a:rPr>
              <a:t>[7] </a:t>
            </a:r>
            <a:r>
              <a:rPr lang="en-GB" sz="2000" dirty="0">
                <a:latin typeface="Times New Roman" panose="02020603050405020304" pitchFamily="18" charset="0"/>
                <a:cs typeface="Times New Roman" panose="02020603050405020304" pitchFamily="18" charset="0"/>
              </a:rPr>
              <a:t>Z. Wu, B. Singh, L. S. Davis, and V. S. </a:t>
            </a:r>
            <a:r>
              <a:rPr lang="en-GB" sz="2000" dirty="0" err="1">
                <a:latin typeface="Times New Roman" panose="02020603050405020304" pitchFamily="18" charset="0"/>
                <a:cs typeface="Times New Roman" panose="02020603050405020304" pitchFamily="18" charset="0"/>
              </a:rPr>
              <a:t>Subrahmanian</a:t>
            </a:r>
            <a:r>
              <a:rPr lang="en-GB" sz="2000" dirty="0">
                <a:latin typeface="Times New Roman" panose="02020603050405020304" pitchFamily="18" charset="0"/>
                <a:cs typeface="Times New Roman" panose="02020603050405020304" pitchFamily="18" charset="0"/>
              </a:rPr>
              <a:t>, "Deception Detection in Videos," in </a:t>
            </a:r>
            <a:r>
              <a:rPr lang="en-GB" sz="2000" i="1" dirty="0">
                <a:latin typeface="Times New Roman" panose="02020603050405020304" pitchFamily="18" charset="0"/>
                <a:cs typeface="Times New Roman" panose="02020603050405020304" pitchFamily="18" charset="0"/>
              </a:rPr>
              <a:t>Proc. AAAI Conf. Artificial Intelligence (AAAI)</a:t>
            </a:r>
            <a:r>
              <a:rPr lang="en-GB" sz="2000" dirty="0">
                <a:latin typeface="Times New Roman" panose="02020603050405020304" pitchFamily="18" charset="0"/>
                <a:cs typeface="Times New Roman" panose="02020603050405020304" pitchFamily="18" charset="0"/>
              </a:rPr>
              <a:t>, New Orleans, LA, USA, 2018, pp. 1695–1702.</a:t>
            </a: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732D3DB-7149-E1E5-D5F9-4FC93A788894}"/>
              </a:ext>
            </a:extLst>
          </p:cNvPr>
          <p:cNvSpPr>
            <a:spLocks noGrp="1"/>
          </p:cNvSpPr>
          <p:nvPr>
            <p:ph type="dt" sz="half" idx="10"/>
          </p:nvPr>
        </p:nvSpPr>
        <p:spPr/>
        <p:txBody>
          <a:bodyPr/>
          <a:lstStyle/>
          <a:p>
            <a:fld id="{0A7C7B6C-E68D-4047-8A1E-3C7BD2842AF7}" type="datetime1">
              <a:rPr lang="en-IN" smtClean="0"/>
              <a:t>27-10-2026</a:t>
            </a:fld>
            <a:endParaRPr lang="en-IN"/>
          </a:p>
        </p:txBody>
      </p:sp>
      <p:sp>
        <p:nvSpPr>
          <p:cNvPr id="6" name="Footer Placeholder 5">
            <a:extLst>
              <a:ext uri="{FF2B5EF4-FFF2-40B4-BE49-F238E27FC236}">
                <a16:creationId xmlns:a16="http://schemas.microsoft.com/office/drawing/2014/main"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431EAEC-BCE3-2979-69C6-273309B9FFA7}"/>
              </a:ext>
            </a:extLst>
          </p:cNvPr>
          <p:cNvSpPr>
            <a:spLocks noGrp="1"/>
          </p:cNvSpPr>
          <p:nvPr>
            <p:ph type="sldNum" sz="quarter" idx="12"/>
          </p:nvPr>
        </p:nvSpPr>
        <p:spPr/>
        <p:txBody>
          <a:bodyPr/>
          <a:lstStyle/>
          <a:p>
            <a:fld id="{65201FD4-9D8D-4491-815B-63C7BF4F0034}" type="slidenum">
              <a:rPr lang="en-IN" smtClean="0"/>
              <a:t>17</a:t>
            </a:fld>
            <a:endParaRPr lang="en-IN"/>
          </a:p>
        </p:txBody>
      </p:sp>
    </p:spTree>
    <p:extLst>
      <p:ext uri="{BB962C8B-B14F-4D97-AF65-F5344CB8AC3E}">
        <p14:creationId xmlns:p14="http://schemas.microsoft.com/office/powerpoint/2010/main" val="3510526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E1053-6602-078F-B5FE-E75EB2AD14E5}"/>
              </a:ext>
            </a:extLst>
          </p:cNvPr>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References</a:t>
            </a:r>
            <a:endParaRPr lang="en-GB" sz="3000" dirty="0"/>
          </a:p>
        </p:txBody>
      </p:sp>
      <p:sp>
        <p:nvSpPr>
          <p:cNvPr id="3" name="Content Placeholder 2">
            <a:extLst>
              <a:ext uri="{FF2B5EF4-FFF2-40B4-BE49-F238E27FC236}">
                <a16:creationId xmlns:a16="http://schemas.microsoft.com/office/drawing/2014/main" id="{A2CFEC13-B973-BE31-A001-091CB593184A}"/>
              </a:ext>
            </a:extLst>
          </p:cNvPr>
          <p:cNvSpPr>
            <a:spLocks noGrp="1"/>
          </p:cNvSpPr>
          <p:nvPr>
            <p:ph idx="1"/>
          </p:nvPr>
        </p:nvSpPr>
        <p:spPr/>
        <p:txBody>
          <a:bodyPr>
            <a:normAutofit fontScale="70000" lnSpcReduction="20000"/>
          </a:bodyPr>
          <a:lstStyle/>
          <a:p>
            <a:pPr algn="just"/>
            <a:r>
              <a:rPr lang="en-GB" dirty="0">
                <a:latin typeface="Times New Roman" panose="02020603050405020304" pitchFamily="18" charset="0"/>
                <a:cs typeface="Times New Roman" panose="02020603050405020304" pitchFamily="18" charset="0"/>
              </a:rPr>
              <a:t>[8] M. M. M. Miah, A. Anika, X. Shi, and R. Huang, "Hidden in Plain Sight: Evaluation of the Deception Detection Capabilities of LLMs in Multimodal Settings," in </a:t>
            </a:r>
            <a:r>
              <a:rPr lang="en-GB" i="1" dirty="0">
                <a:latin typeface="Times New Roman" panose="02020603050405020304" pitchFamily="18" charset="0"/>
                <a:cs typeface="Times New Roman" panose="02020603050405020304" pitchFamily="18" charset="0"/>
              </a:rPr>
              <a:t>Proc. 63rd Annual Meeting of the Association for Computational Linguistics (ACL)</a:t>
            </a:r>
            <a:r>
              <a:rPr lang="en-GB" dirty="0">
                <a:latin typeface="Times New Roman" panose="02020603050405020304" pitchFamily="18" charset="0"/>
                <a:cs typeface="Times New Roman" panose="02020603050405020304" pitchFamily="18" charset="0"/>
              </a:rPr>
              <a:t>, Vienna, Austria, 2025, pp. 31013–31034.</a:t>
            </a:r>
          </a:p>
          <a:p>
            <a:pPr algn="just"/>
            <a:r>
              <a:rPr lang="en-GB" dirty="0">
                <a:latin typeface="Times New Roman" panose="02020603050405020304" pitchFamily="18" charset="0"/>
                <a:cs typeface="Times New Roman" panose="02020603050405020304" pitchFamily="18" charset="0"/>
              </a:rPr>
              <a:t>[9] R. I. A. </a:t>
            </a:r>
            <a:r>
              <a:rPr lang="en-GB" dirty="0" err="1">
                <a:latin typeface="Times New Roman" panose="02020603050405020304" pitchFamily="18" charset="0"/>
                <a:cs typeface="Times New Roman" panose="02020603050405020304" pitchFamily="18" charset="0"/>
              </a:rPr>
              <a:t>Baldivas</a:t>
            </a:r>
            <a:r>
              <a:rPr lang="en-GB" dirty="0">
                <a:latin typeface="Times New Roman" panose="02020603050405020304" pitchFamily="18" charset="0"/>
                <a:cs typeface="Times New Roman" panose="02020603050405020304" pitchFamily="18" charset="0"/>
              </a:rPr>
              <a:t>, N. Sreenivasan, S. Y. Kang, A. M.-L. Miller, M. Chacko, S. Krishnan, C. Ayala, E. Ayala, and D. Kim, "</a:t>
            </a:r>
            <a:r>
              <a:rPr lang="en-GB" dirty="0" err="1">
                <a:latin typeface="Times New Roman" panose="02020603050405020304" pitchFamily="18" charset="0"/>
                <a:cs typeface="Times New Roman" panose="02020603050405020304" pitchFamily="18" charset="0"/>
              </a:rPr>
              <a:t>LegalEye</a:t>
            </a:r>
            <a:r>
              <a:rPr lang="en-GB" dirty="0">
                <a:latin typeface="Times New Roman" panose="02020603050405020304" pitchFamily="18" charset="0"/>
                <a:cs typeface="Times New Roman" panose="02020603050405020304" pitchFamily="18" charset="0"/>
              </a:rPr>
              <a:t>: Multimodal Court Deception Detection Across Multiple Languages," </a:t>
            </a:r>
            <a:r>
              <a:rPr lang="en-GB" i="1" dirty="0" err="1">
                <a:latin typeface="Times New Roman" panose="02020603050405020304" pitchFamily="18" charset="0"/>
                <a:cs typeface="Times New Roman" panose="02020603050405020304" pitchFamily="18" charset="0"/>
              </a:rPr>
              <a:t>Behavioral</a:t>
            </a:r>
            <a:r>
              <a:rPr lang="en-GB" i="1" dirty="0">
                <a:latin typeface="Times New Roman" panose="02020603050405020304" pitchFamily="18" charset="0"/>
                <a:cs typeface="Times New Roman" panose="02020603050405020304" pitchFamily="18" charset="0"/>
              </a:rPr>
              <a:t> Sciences</a:t>
            </a:r>
            <a:r>
              <a:rPr lang="en-GB" dirty="0">
                <a:latin typeface="Times New Roman" panose="02020603050405020304" pitchFamily="18" charset="0"/>
                <a:cs typeface="Times New Roman" panose="02020603050405020304" pitchFamily="18" charset="0"/>
              </a:rPr>
              <a:t>, vol. 15, no. 12, Art. no. 1707, Dec. 2025.</a:t>
            </a:r>
          </a:p>
          <a:p>
            <a:pPr algn="just"/>
            <a:r>
              <a:rPr lang="en-GB" dirty="0">
                <a:latin typeface="Times New Roman" panose="02020603050405020304" pitchFamily="18" charset="0"/>
                <a:cs typeface="Times New Roman" panose="02020603050405020304" pitchFamily="18" charset="0"/>
              </a:rPr>
              <a:t>[10] V. Sharma and S. O'Brien, "</a:t>
            </a:r>
            <a:r>
              <a:rPr lang="en-GB" dirty="0" err="1">
                <a:latin typeface="Times New Roman" panose="02020603050405020304" pitchFamily="18" charset="0"/>
                <a:cs typeface="Times New Roman" panose="02020603050405020304" pitchFamily="18" charset="0"/>
              </a:rPr>
              <a:t>DecepBench</a:t>
            </a:r>
            <a:r>
              <a:rPr lang="en-GB" dirty="0">
                <a:latin typeface="Times New Roman" panose="02020603050405020304" pitchFamily="18" charset="0"/>
                <a:cs typeface="Times New Roman" panose="02020603050405020304" pitchFamily="18" charset="0"/>
              </a:rPr>
              <a:t>: Benchmarking Multimodal Deception Detection," in </a:t>
            </a:r>
            <a:r>
              <a:rPr lang="en-GB" i="1" dirty="0">
                <a:latin typeface="Times New Roman" panose="02020603050405020304" pitchFamily="18" charset="0"/>
                <a:cs typeface="Times New Roman" panose="02020603050405020304" pitchFamily="18" charset="0"/>
              </a:rPr>
              <a:t>Proc. 3rd Workshop on Social Influence in Conversations (</a:t>
            </a:r>
            <a:r>
              <a:rPr lang="en-GB" i="1" dirty="0" err="1">
                <a:latin typeface="Times New Roman" panose="02020603050405020304" pitchFamily="18" charset="0"/>
                <a:cs typeface="Times New Roman" panose="02020603050405020304" pitchFamily="18" charset="0"/>
              </a:rPr>
              <a:t>SICon</a:t>
            </a:r>
            <a:r>
              <a:rPr lang="en-GB" i="1" dirty="0">
                <a:latin typeface="Times New Roman" panose="02020603050405020304" pitchFamily="18" charset="0"/>
                <a:cs typeface="Times New Roman" panose="02020603050405020304" pitchFamily="18" charset="0"/>
              </a:rPr>
              <a:t>), Association for Computational Linguistics</a:t>
            </a:r>
            <a:r>
              <a:rPr lang="en-GB" dirty="0">
                <a:latin typeface="Times New Roman" panose="02020603050405020304" pitchFamily="18" charset="0"/>
                <a:cs typeface="Times New Roman" panose="02020603050405020304" pitchFamily="18" charset="0"/>
              </a:rPr>
              <a:t>, Vienna, Austria, 2025, pp. 50–64.</a:t>
            </a:r>
          </a:p>
          <a:p>
            <a:pPr algn="just"/>
            <a:r>
              <a:rPr lang="en-GB" dirty="0">
                <a:latin typeface="Times New Roman" panose="02020603050405020304" pitchFamily="18" charset="0"/>
                <a:cs typeface="Times New Roman" panose="02020603050405020304" pitchFamily="18" charset="0"/>
              </a:rPr>
              <a:t>[11] S. Poria, D. Hazarika, N. Majumder, G. Naik, E. Cambria, and R. Mihalcea, "MELD: A Multimodal Multi-Party Dataset for Emotion Recognition in Conversations," in </a:t>
            </a:r>
            <a:r>
              <a:rPr lang="en-GB" i="1" dirty="0">
                <a:latin typeface="Times New Roman" panose="02020603050405020304" pitchFamily="18" charset="0"/>
                <a:cs typeface="Times New Roman" panose="02020603050405020304" pitchFamily="18" charset="0"/>
              </a:rPr>
              <a:t>Proc. 57th Annual Meeting of the Association for Computational Linguistics (ACL)</a:t>
            </a:r>
            <a:r>
              <a:rPr lang="en-GB" dirty="0">
                <a:latin typeface="Times New Roman" panose="02020603050405020304" pitchFamily="18" charset="0"/>
                <a:cs typeface="Times New Roman" panose="02020603050405020304" pitchFamily="18" charset="0"/>
              </a:rPr>
              <a:t>, Florence, Italy, 2019, pp. 527–536. </a:t>
            </a:r>
          </a:p>
          <a:p>
            <a:pPr algn="just"/>
            <a:r>
              <a:rPr lang="en-GB" dirty="0">
                <a:latin typeface="Times New Roman" panose="02020603050405020304" pitchFamily="18" charset="0"/>
                <a:cs typeface="Times New Roman" panose="02020603050405020304" pitchFamily="18" charset="0"/>
              </a:rPr>
              <a:t>[12] W. Yu, H. Xu, Z. Yuan, and J. Wu, "Learning Modality-Specific Representations with Self-Supervised Multi-Task Learning for Multimodal Sentiment Analysis," in </a:t>
            </a:r>
            <a:r>
              <a:rPr lang="en-GB" i="1" dirty="0">
                <a:latin typeface="Times New Roman" panose="02020603050405020304" pitchFamily="18" charset="0"/>
                <a:cs typeface="Times New Roman" panose="02020603050405020304" pitchFamily="18" charset="0"/>
              </a:rPr>
              <a:t>Proc. AAAI Conf. Artificial Intelligence (AAAI)</a:t>
            </a:r>
            <a:r>
              <a:rPr lang="en-GB" dirty="0">
                <a:latin typeface="Times New Roman" panose="02020603050405020304" pitchFamily="18" charset="0"/>
                <a:cs typeface="Times New Roman" panose="02020603050405020304" pitchFamily="18" charset="0"/>
              </a:rPr>
              <a:t>, Virtual Conference, 2021, pp. 10790–10797. </a:t>
            </a:r>
          </a:p>
          <a:p>
            <a:endParaRPr lang="en-GB" dirty="0"/>
          </a:p>
        </p:txBody>
      </p:sp>
      <p:sp>
        <p:nvSpPr>
          <p:cNvPr id="4" name="Date Placeholder 3">
            <a:extLst>
              <a:ext uri="{FF2B5EF4-FFF2-40B4-BE49-F238E27FC236}">
                <a16:creationId xmlns:a16="http://schemas.microsoft.com/office/drawing/2014/main" id="{83E69EAD-B357-8AF9-B405-E3CCEE5C7397}"/>
              </a:ext>
            </a:extLst>
          </p:cNvPr>
          <p:cNvSpPr>
            <a:spLocks noGrp="1"/>
          </p:cNvSpPr>
          <p:nvPr>
            <p:ph type="dt" sz="half" idx="10"/>
          </p:nvPr>
        </p:nvSpPr>
        <p:spPr/>
        <p:txBody>
          <a:bodyPr/>
          <a:lstStyle/>
          <a:p>
            <a:fld id="{FEA886FF-1BA7-4533-94E6-869CE1E2970B}" type="datetime1">
              <a:rPr lang="en-IN" smtClean="0"/>
              <a:t>27-10-2026</a:t>
            </a:fld>
            <a:endParaRPr lang="en-IN"/>
          </a:p>
        </p:txBody>
      </p:sp>
      <p:sp>
        <p:nvSpPr>
          <p:cNvPr id="5" name="Footer Placeholder 4">
            <a:extLst>
              <a:ext uri="{FF2B5EF4-FFF2-40B4-BE49-F238E27FC236}">
                <a16:creationId xmlns:a16="http://schemas.microsoft.com/office/drawing/2014/main" id="{FE5BA551-51E1-049E-BB26-DCFF3E735638}"/>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685E91A-05C5-B821-0212-815432A56B76}"/>
              </a:ext>
            </a:extLst>
          </p:cNvPr>
          <p:cNvSpPr>
            <a:spLocks noGrp="1"/>
          </p:cNvSpPr>
          <p:nvPr>
            <p:ph type="sldNum" sz="quarter" idx="12"/>
          </p:nvPr>
        </p:nvSpPr>
        <p:spPr/>
        <p:txBody>
          <a:bodyPr/>
          <a:lstStyle/>
          <a:p>
            <a:fld id="{65201FD4-9D8D-4491-815B-63C7BF4F0034}" type="slidenum">
              <a:rPr lang="en-IN" smtClean="0"/>
              <a:t>18</a:t>
            </a:fld>
            <a:endParaRPr lang="en-IN"/>
          </a:p>
        </p:txBody>
      </p:sp>
    </p:spTree>
    <p:extLst>
      <p:ext uri="{BB962C8B-B14F-4D97-AF65-F5344CB8AC3E}">
        <p14:creationId xmlns:p14="http://schemas.microsoft.com/office/powerpoint/2010/main" val="12314480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2249</TotalTime>
  <Words>1601</Words>
  <Application>Microsoft Office PowerPoint</Application>
  <PresentationFormat>Widescreen</PresentationFormat>
  <Paragraphs>197</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Times New Roman</vt:lpstr>
      <vt:lpstr>Wingdings</vt:lpstr>
      <vt:lpstr>Office Theme</vt:lpstr>
      <vt:lpstr>B.Tech BCSE497J– Project-1 Intelligent Investigative Interview Assistant Using Speech Emotion Analysis, Computer Vision and Large Language Models</vt:lpstr>
      <vt:lpstr>Approval Mail From Guide</vt:lpstr>
      <vt:lpstr>Aim</vt:lpstr>
      <vt:lpstr>Abstract</vt:lpstr>
      <vt:lpstr>Literature Review</vt:lpstr>
      <vt:lpstr>Literature Review</vt:lpstr>
      <vt:lpstr>Research Gap</vt:lpstr>
      <vt:lpstr>Objectives</vt:lpstr>
      <vt:lpstr>Framework/Architecture/Block Diagram</vt:lpstr>
      <vt:lpstr>PowerPoint Presentation</vt:lpstr>
      <vt:lpstr>Functional Requirements</vt:lpstr>
      <vt:lpstr>Modules</vt:lpstr>
      <vt:lpstr>Modules</vt:lpstr>
      <vt:lpstr>Experiments and Results</vt:lpstr>
      <vt:lpstr>Experiments and Results</vt:lpstr>
      <vt:lpstr>Conclusion</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Parthasarathy G</dc:creator>
  <cp:lastModifiedBy>Aniket Vishal Agrawal</cp:lastModifiedBy>
  <cp:revision>17</cp:revision>
  <dcterms:created xsi:type="dcterms:W3CDTF">2026-07-14T06:00:41Z</dcterms:created>
  <dcterms:modified xsi:type="dcterms:W3CDTF">2026-10-27T10:53:27Z</dcterms:modified>
</cp:coreProperties>
</file>